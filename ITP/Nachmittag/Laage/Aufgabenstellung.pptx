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"/>
  </p:notesMasterIdLst>
  <p:sldIdLst>
    <p:sldId id="337" r:id="rId2"/>
    <p:sldId id="333" r:id="rId3"/>
    <p:sldId id="334" r:id="rId4"/>
    <p:sldId id="335" r:id="rId5"/>
    <p:sldId id="336" r:id="rId6"/>
  </p:sldIdLst>
  <p:sldSz cx="10080625" cy="7559675"/>
  <p:notesSz cx="6742113" cy="98726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59">
          <p15:clr>
            <a:srgbClr val="A4A3A4"/>
          </p15:clr>
        </p15:guide>
        <p15:guide id="2" pos="1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656" y="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659"/>
        <p:guide pos="19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93788" y="947738"/>
            <a:ext cx="4554537" cy="3416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3457" y="4696662"/>
            <a:ext cx="4659448" cy="379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39453728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764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/>
          <a:lstStyle>
            <a:lvl1pPr marL="431800" indent="-323850">
              <a:buFont typeface="Wingdings" panose="05000000000000000000" pitchFamily="2" charset="2"/>
              <a:buChar char="Ø"/>
              <a:defRPr/>
            </a:lvl1pPr>
            <a:lvl2pPr marL="863600" indent="-287338">
              <a:buFont typeface="Wingdings" panose="05000000000000000000" pitchFamily="2" charset="2"/>
              <a:buChar char="§"/>
              <a:defRPr/>
            </a:lvl2pPr>
            <a:lvl3pPr marL="1295400" indent="-215900">
              <a:buFont typeface="Courier New" panose="02070309020205020404" pitchFamily="49" charset="0"/>
              <a:buChar char="o"/>
              <a:defRPr/>
            </a:lvl3pPr>
            <a:lvl4pPr marL="1727200" indent="-215900">
              <a:buFont typeface="Symbol" panose="05050102010706020507" pitchFamily="18" charset="2"/>
              <a:buChar char="-"/>
              <a:defRPr/>
            </a:lvl4pPr>
            <a:lvl5pPr marL="2159000" indent="-215900">
              <a:buFont typeface="Symbol" panose="05050102010706020507" pitchFamily="18" charset="2"/>
              <a:buChar char="-"/>
              <a:defRPr/>
            </a:lvl5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527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7522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16513" y="1763713"/>
            <a:ext cx="4460875" cy="4989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22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03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73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51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7832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567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04825" y="1763713"/>
            <a:ext cx="9072563" cy="4989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539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10438" y="303213"/>
            <a:ext cx="2266950" cy="6450012"/>
          </a:xfrm>
          <a:prstGeom prst="rect">
            <a:avLst/>
          </a:prstGeo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504825" y="303213"/>
            <a:ext cx="6653213" cy="64500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609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504825" y="1763713"/>
            <a:ext cx="4459288" cy="4989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5116513" y="1763713"/>
            <a:ext cx="446087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5116513" y="4333875"/>
            <a:ext cx="4460875" cy="2419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955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el und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sz="quarter"/>
          </p:nvPr>
        </p:nvSpPr>
        <p:spPr>
          <a:xfrm>
            <a:off x="504825" y="303213"/>
            <a:ext cx="9072563" cy="1258887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504825" y="1763713"/>
            <a:ext cx="4459288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5116513" y="1763713"/>
            <a:ext cx="446087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504825" y="4333875"/>
            <a:ext cx="4459288" cy="2419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116513" y="4333875"/>
            <a:ext cx="4460875" cy="2419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2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/>
          <p:cNvSpPr>
            <a:spLocks noChangeArrowheads="1"/>
          </p:cNvSpPr>
          <p:nvPr userDrawn="1"/>
        </p:nvSpPr>
        <p:spPr bwMode="auto">
          <a:xfrm>
            <a:off x="247650" y="6392863"/>
            <a:ext cx="9536113" cy="963612"/>
          </a:xfrm>
          <a:prstGeom prst="roundRect">
            <a:avLst>
              <a:gd name="adj" fmla="val 162"/>
            </a:avLst>
          </a:prstGeom>
          <a:solidFill>
            <a:srgbClr val="CCCC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29" name="Text Box 5"/>
          <p:cNvSpPr txBox="1">
            <a:spLocks noChangeArrowheads="1"/>
          </p:cNvSpPr>
          <p:nvPr userDrawn="1"/>
        </p:nvSpPr>
        <p:spPr bwMode="auto">
          <a:xfrm>
            <a:off x="6360221" y="7118853"/>
            <a:ext cx="342354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rgbClr val="000000"/>
              </a:buClr>
              <a:buSzPct val="77000"/>
              <a:buFont typeface="StarBats" charset="0"/>
              <a:buNone/>
            </a:pPr>
            <a:r>
              <a:rPr lang="en-GB" altLang="de-DE" sz="1400" b="0" dirty="0" smtClean="0">
                <a:solidFill>
                  <a:schemeClr val="accent6">
                    <a:lumMod val="75000"/>
                  </a:schemeClr>
                </a:solidFill>
              </a:rPr>
              <a:t>DI Robin </a:t>
            </a:r>
            <a:r>
              <a:rPr lang="en-GB" altLang="de-DE" sz="1400" b="0" dirty="0">
                <a:solidFill>
                  <a:schemeClr val="accent6">
                    <a:lumMod val="75000"/>
                  </a:schemeClr>
                </a:solidFill>
              </a:rPr>
              <a:t>Laage	 </a:t>
            </a:r>
            <a:r>
              <a:rPr lang="en-GB" altLang="de-DE" sz="1400" b="0" dirty="0" smtClean="0">
                <a:solidFill>
                  <a:schemeClr val="accent6">
                    <a:lumMod val="75000"/>
                  </a:schemeClr>
                </a:solidFill>
              </a:rPr>
              <a:t>Wels, 17. September</a:t>
            </a:r>
            <a:r>
              <a:rPr lang="en-GB" altLang="de-DE" sz="1400" b="0" baseline="0" dirty="0" smtClean="0">
                <a:solidFill>
                  <a:schemeClr val="accent6">
                    <a:lumMod val="75000"/>
                  </a:schemeClr>
                </a:solidFill>
              </a:rPr>
              <a:t> 2018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6512696"/>
            <a:ext cx="576064" cy="773240"/>
          </a:xfrm>
          <a:prstGeom prst="rect">
            <a:avLst/>
          </a:prstGeom>
        </p:spPr>
      </p:pic>
      <p:sp>
        <p:nvSpPr>
          <p:cNvPr id="3" name="Textfeld 2"/>
          <p:cNvSpPr txBox="1"/>
          <p:nvPr userDrawn="1"/>
        </p:nvSpPr>
        <p:spPr>
          <a:xfrm>
            <a:off x="1367904" y="6588149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Netzwerktechnik und</a:t>
            </a:r>
            <a:r>
              <a:rPr lang="de-DE" b="1" baseline="0" dirty="0" smtClean="0">
                <a:solidFill>
                  <a:schemeClr val="accent6">
                    <a:lumMod val="75000"/>
                  </a:schemeClr>
                </a:solidFill>
              </a:rPr>
              <a:t> - </a:t>
            </a:r>
            <a:r>
              <a:rPr lang="de-DE" b="1" baseline="0" dirty="0" err="1" smtClean="0">
                <a:solidFill>
                  <a:schemeClr val="accent6">
                    <a:lumMod val="75000"/>
                  </a:schemeClr>
                </a:solidFill>
              </a:rPr>
              <a:t>übungen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358775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2pPr>
      <a:lvl3pPr marL="719138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3pPr>
      <a:lvl4pPr marL="10795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4pPr>
      <a:lvl5pPr marL="1439863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5pPr>
      <a:lvl6pPr marL="1897063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6pPr>
      <a:lvl7pPr marL="2354263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7pPr>
      <a:lvl8pPr marL="2811463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8pPr>
      <a:lvl9pPr marL="3268663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Bats" charset="0"/>
        <a:defRPr sz="4400">
          <a:solidFill>
            <a:srgbClr val="000000"/>
          </a:solidFill>
          <a:latin typeface="Times New Roman" pitchFamily="18" charset="0"/>
        </a:defRPr>
      </a:lvl9pPr>
    </p:titleStyle>
    <p:bodyStyle>
      <a:lvl1pPr marL="431800" indent="-323850" algn="l" defTabSz="449263" rtl="0" eaLnBrk="0" fontAlgn="base" hangingPunct="0">
        <a:spcBef>
          <a:spcPct val="0"/>
        </a:spcBef>
        <a:spcAft>
          <a:spcPts val="1413"/>
        </a:spcAft>
        <a:buClr>
          <a:srgbClr val="000000"/>
        </a:buClr>
        <a:buSzPct val="45000"/>
        <a:buFont typeface="StarBats" charset="0"/>
        <a:buChar char="&quot;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863600" indent="-287338" algn="l" defTabSz="449263" rtl="0" eaLnBrk="0" fontAlgn="base" hangingPunct="0">
        <a:spcBef>
          <a:spcPct val="0"/>
        </a:spcBef>
        <a:spcAft>
          <a:spcPts val="1125"/>
        </a:spcAft>
        <a:buClr>
          <a:srgbClr val="000000"/>
        </a:buClr>
        <a:buSzPct val="75000"/>
        <a:buFont typeface="StarBats" charset="0"/>
        <a:buChar char=""/>
        <a:defRPr sz="2800">
          <a:solidFill>
            <a:srgbClr val="000000"/>
          </a:solidFill>
          <a:latin typeface="+mn-lt"/>
        </a:defRPr>
      </a:lvl2pPr>
      <a:lvl3pPr marL="1295400" indent="-215900" algn="l" defTabSz="449263" rtl="0" eaLnBrk="0" fontAlgn="base" hangingPunct="0">
        <a:spcBef>
          <a:spcPct val="0"/>
        </a:spcBef>
        <a:spcAft>
          <a:spcPts val="850"/>
        </a:spcAft>
        <a:buClr>
          <a:srgbClr val="000000"/>
        </a:buClr>
        <a:buSzPct val="45000"/>
        <a:buFont typeface="StarBats" charset="0"/>
        <a:buChar char="&quot;"/>
        <a:defRPr sz="2400">
          <a:solidFill>
            <a:srgbClr val="000000"/>
          </a:solidFill>
          <a:latin typeface="+mn-lt"/>
        </a:defRPr>
      </a:lvl3pPr>
      <a:lvl4pPr marL="1727200" indent="-215900" algn="l" defTabSz="449263" rtl="0" eaLnBrk="0" fontAlgn="base" hangingPunct="0">
        <a:spcBef>
          <a:spcPct val="0"/>
        </a:spcBef>
        <a:spcAft>
          <a:spcPts val="563"/>
        </a:spcAft>
        <a:buClr>
          <a:srgbClr val="000000"/>
        </a:buClr>
        <a:buSzPct val="75000"/>
        <a:buFont typeface="StarBats" charset="0"/>
        <a:buChar char=""/>
        <a:defRPr sz="2000">
          <a:solidFill>
            <a:srgbClr val="000000"/>
          </a:solidFill>
          <a:latin typeface="+mn-lt"/>
        </a:defRPr>
      </a:lvl4pPr>
      <a:lvl5pPr marL="2159000" indent="-215900" algn="l" defTabSz="449263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5pPr>
      <a:lvl6pPr marL="2616200" indent="-215900" algn="l" defTabSz="449263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6pPr>
      <a:lvl7pPr marL="3073400" indent="-215900" algn="l" defTabSz="449263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7pPr>
      <a:lvl8pPr marL="3530600" indent="-215900" algn="l" defTabSz="449263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8pPr>
      <a:lvl9pPr marL="3987800" indent="-215900" algn="l" defTabSz="449263" rtl="0" eaLnBrk="0" fontAlgn="base" hangingPunct="0">
        <a:spcBef>
          <a:spcPct val="0"/>
        </a:spcBef>
        <a:spcAft>
          <a:spcPts val="275"/>
        </a:spcAft>
        <a:buClr>
          <a:srgbClr val="000000"/>
        </a:buClr>
        <a:buSzPct val="45000"/>
        <a:buFont typeface="StarBats" charset="0"/>
        <a:buChar char="&quot;"/>
        <a:defRPr sz="2000">
          <a:solidFill>
            <a:srgbClr val="000000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smtClean="0"/>
              <a:t>Netzwerktechnisches Abschlussprojekt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 smtClean="0"/>
              <a:t>ITP 4. Klasse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989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 381"/>
          <p:cNvGrpSpPr>
            <a:grpSpLocks/>
          </p:cNvGrpSpPr>
          <p:nvPr/>
        </p:nvGrpSpPr>
        <p:grpSpPr bwMode="auto">
          <a:xfrm>
            <a:off x="5322515" y="454025"/>
            <a:ext cx="2096576" cy="504825"/>
            <a:chOff x="192" y="3264"/>
            <a:chExt cx="744" cy="449"/>
          </a:xfrm>
        </p:grpSpPr>
        <p:pic>
          <p:nvPicPr>
            <p:cNvPr id="196" name="Picture 38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264"/>
              <a:ext cx="744" cy="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  <p:sp>
          <p:nvSpPr>
            <p:cNvPr id="197" name="Text Box 383"/>
            <p:cNvSpPr txBox="1">
              <a:spLocks noChangeArrowheads="1"/>
            </p:cNvSpPr>
            <p:nvPr/>
          </p:nvSpPr>
          <p:spPr bwMode="auto">
            <a:xfrm>
              <a:off x="490" y="3357"/>
              <a:ext cx="222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4240" tIns="42120" rIns="84240" bIns="42120" anchor="ctr">
              <a:spAutoFit/>
            </a:bodyPr>
            <a:lstStyle>
              <a:lvl1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>
                <a:lnSpc>
                  <a:spcPct val="95000"/>
                </a:lnSpc>
                <a:buSzPct val="66000"/>
              </a:pPr>
              <a:r>
                <a:rPr lang="en-GB" altLang="de-DE" sz="1600" b="1" dirty="0" smtClean="0"/>
                <a:t>AON</a:t>
              </a:r>
              <a:endParaRPr lang="en-GB" altLang="de-DE" sz="1600" b="1" dirty="0"/>
            </a:p>
          </p:txBody>
        </p:sp>
      </p:grpSp>
      <p:grpSp>
        <p:nvGrpSpPr>
          <p:cNvPr id="192" name="Group 381"/>
          <p:cNvGrpSpPr>
            <a:grpSpLocks/>
          </p:cNvGrpSpPr>
          <p:nvPr/>
        </p:nvGrpSpPr>
        <p:grpSpPr bwMode="auto">
          <a:xfrm>
            <a:off x="2720197" y="426574"/>
            <a:ext cx="1828478" cy="545021"/>
            <a:chOff x="192" y="3264"/>
            <a:chExt cx="744" cy="449"/>
          </a:xfrm>
        </p:grpSpPr>
        <p:pic>
          <p:nvPicPr>
            <p:cNvPr id="193" name="Picture 38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264"/>
              <a:ext cx="744" cy="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  <p:sp>
          <p:nvSpPr>
            <p:cNvPr id="194" name="Text Box 383"/>
            <p:cNvSpPr txBox="1">
              <a:spLocks noChangeArrowheads="1"/>
            </p:cNvSpPr>
            <p:nvPr/>
          </p:nvSpPr>
          <p:spPr bwMode="auto">
            <a:xfrm>
              <a:off x="431" y="3368"/>
              <a:ext cx="33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4240" tIns="42120" rIns="84240" bIns="42120" anchor="ctr">
              <a:spAutoFit/>
            </a:bodyPr>
            <a:lstStyle>
              <a:lvl1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>
                <a:lnSpc>
                  <a:spcPct val="95000"/>
                </a:lnSpc>
                <a:buSzPct val="66000"/>
              </a:pPr>
              <a:r>
                <a:rPr lang="en-GB" altLang="de-DE" sz="1600" b="1" dirty="0" err="1" smtClean="0"/>
                <a:t>LiWeSt</a:t>
              </a:r>
              <a:endParaRPr lang="en-GB" altLang="de-DE" sz="1600" b="1" dirty="0"/>
            </a:p>
          </p:txBody>
        </p:sp>
      </p:grpSp>
      <p:sp>
        <p:nvSpPr>
          <p:cNvPr id="269" name="Line 12"/>
          <p:cNvSpPr>
            <a:spLocks noChangeShapeType="1"/>
          </p:cNvSpPr>
          <p:nvPr/>
        </p:nvSpPr>
        <p:spPr bwMode="auto">
          <a:xfrm flipV="1">
            <a:off x="1989269" y="2808286"/>
            <a:ext cx="59752" cy="846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431800" y="1476375"/>
            <a:ext cx="2087563" cy="30956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583475" y="4199036"/>
            <a:ext cx="187166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400" b="1" dirty="0" smtClean="0"/>
              <a:t>Haus A (1200 </a:t>
            </a:r>
            <a:r>
              <a:rPr lang="de-DE" altLang="de-DE" sz="1400" b="1" dirty="0" err="1" smtClean="0"/>
              <a:t>ports</a:t>
            </a:r>
            <a:r>
              <a:rPr lang="de-DE" altLang="de-DE" sz="1400" b="1" dirty="0" smtClean="0"/>
              <a:t>)</a:t>
            </a:r>
            <a:endParaRPr lang="de-DE" altLang="de-DE" sz="1400" b="1" dirty="0"/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 flipH="1" flipV="1">
            <a:off x="2016125" y="2124075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116093" name="Group 381"/>
          <p:cNvGrpSpPr>
            <a:grpSpLocks/>
          </p:cNvGrpSpPr>
          <p:nvPr/>
        </p:nvGrpSpPr>
        <p:grpSpPr bwMode="auto">
          <a:xfrm>
            <a:off x="3993852" y="250825"/>
            <a:ext cx="2096576" cy="504825"/>
            <a:chOff x="192" y="3264"/>
            <a:chExt cx="744" cy="449"/>
          </a:xfrm>
        </p:grpSpPr>
        <p:pic>
          <p:nvPicPr>
            <p:cNvPr id="116094" name="Picture 38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264"/>
              <a:ext cx="744" cy="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</a:extLst>
          </p:spPr>
        </p:pic>
        <p:sp>
          <p:nvSpPr>
            <p:cNvPr id="116095" name="Text Box 383"/>
            <p:cNvSpPr txBox="1">
              <a:spLocks noChangeArrowheads="1"/>
            </p:cNvSpPr>
            <p:nvPr/>
          </p:nvSpPr>
          <p:spPr bwMode="auto">
            <a:xfrm>
              <a:off x="513" y="3357"/>
              <a:ext cx="17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4240" tIns="42120" rIns="84240" bIns="42120" anchor="ctr">
              <a:spAutoFit/>
            </a:bodyPr>
            <a:lstStyle>
              <a:lvl1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</a:tabLs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>
                <a:lnSpc>
                  <a:spcPct val="95000"/>
                </a:lnSpc>
                <a:buSzPct val="66000"/>
              </a:pPr>
              <a:r>
                <a:rPr lang="en-GB" altLang="de-DE" sz="1600" b="1" dirty="0" smtClean="0"/>
                <a:t>WWW</a:t>
              </a:r>
              <a:endParaRPr lang="en-GB" altLang="de-DE" sz="1600" b="1" dirty="0"/>
            </a:p>
          </p:txBody>
        </p:sp>
      </p:grpSp>
      <p:sp>
        <p:nvSpPr>
          <p:cNvPr id="271" name="Line 12"/>
          <p:cNvSpPr>
            <a:spLocks noChangeShapeType="1"/>
          </p:cNvSpPr>
          <p:nvPr/>
        </p:nvSpPr>
        <p:spPr bwMode="auto">
          <a:xfrm flipV="1">
            <a:off x="4740261" y="4544217"/>
            <a:ext cx="59752" cy="846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72" name="Rectangle 2"/>
          <p:cNvSpPr>
            <a:spLocks noChangeArrowheads="1"/>
          </p:cNvSpPr>
          <p:nvPr/>
        </p:nvSpPr>
        <p:spPr bwMode="auto">
          <a:xfrm>
            <a:off x="3182792" y="3212306"/>
            <a:ext cx="2087563" cy="30956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273" name="Text Box 3"/>
          <p:cNvSpPr txBox="1">
            <a:spLocks noChangeArrowheads="1"/>
          </p:cNvSpPr>
          <p:nvPr/>
        </p:nvSpPr>
        <p:spPr bwMode="auto">
          <a:xfrm>
            <a:off x="3221335" y="6000154"/>
            <a:ext cx="195967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400" b="1" dirty="0" smtClean="0"/>
              <a:t>Haus B (800 </a:t>
            </a:r>
            <a:r>
              <a:rPr lang="de-DE" altLang="de-DE" sz="1400" b="1" dirty="0" err="1" smtClean="0"/>
              <a:t>ports</a:t>
            </a:r>
            <a:r>
              <a:rPr lang="de-DE" altLang="de-DE" sz="1400" b="1" dirty="0" smtClean="0"/>
              <a:t>)</a:t>
            </a:r>
            <a:endParaRPr lang="de-DE" altLang="de-DE" sz="1400" b="1" dirty="0"/>
          </a:p>
        </p:txBody>
      </p:sp>
      <p:sp>
        <p:nvSpPr>
          <p:cNvPr id="275" name="Line 13"/>
          <p:cNvSpPr>
            <a:spLocks noChangeShapeType="1"/>
          </p:cNvSpPr>
          <p:nvPr/>
        </p:nvSpPr>
        <p:spPr bwMode="auto">
          <a:xfrm flipH="1" flipV="1">
            <a:off x="4767117" y="3860006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316" name="Line 12"/>
          <p:cNvSpPr>
            <a:spLocks noChangeShapeType="1"/>
          </p:cNvSpPr>
          <p:nvPr/>
        </p:nvSpPr>
        <p:spPr bwMode="auto">
          <a:xfrm flipV="1">
            <a:off x="8292437" y="2852626"/>
            <a:ext cx="59752" cy="846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317" name="Rectangle 2"/>
          <p:cNvSpPr>
            <a:spLocks noChangeArrowheads="1"/>
          </p:cNvSpPr>
          <p:nvPr/>
        </p:nvSpPr>
        <p:spPr bwMode="auto">
          <a:xfrm>
            <a:off x="6734968" y="1520715"/>
            <a:ext cx="2087563" cy="30956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318" name="Text Box 3"/>
          <p:cNvSpPr txBox="1">
            <a:spLocks noChangeArrowheads="1"/>
          </p:cNvSpPr>
          <p:nvPr/>
        </p:nvSpPr>
        <p:spPr bwMode="auto">
          <a:xfrm>
            <a:off x="6772471" y="4271267"/>
            <a:ext cx="19771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400" b="1" dirty="0"/>
              <a:t>Haus </a:t>
            </a:r>
            <a:r>
              <a:rPr lang="de-DE" altLang="de-DE" sz="1400" b="1" dirty="0" smtClean="0"/>
              <a:t>C </a:t>
            </a:r>
            <a:r>
              <a:rPr lang="de-DE" altLang="de-DE" sz="1400" b="1" dirty="0"/>
              <a:t>(800 </a:t>
            </a:r>
            <a:r>
              <a:rPr lang="de-DE" altLang="de-DE" sz="1400" b="1" dirty="0" err="1"/>
              <a:t>ports</a:t>
            </a:r>
            <a:r>
              <a:rPr lang="de-DE" altLang="de-DE" sz="1400" b="1" dirty="0" smtClean="0"/>
              <a:t>)</a:t>
            </a:r>
            <a:endParaRPr lang="de-DE" altLang="de-DE" sz="1400" b="1" dirty="0"/>
          </a:p>
        </p:txBody>
      </p:sp>
      <p:sp>
        <p:nvSpPr>
          <p:cNvPr id="320" name="Line 13"/>
          <p:cNvSpPr>
            <a:spLocks noChangeShapeType="1"/>
          </p:cNvSpPr>
          <p:nvPr/>
        </p:nvSpPr>
        <p:spPr bwMode="auto">
          <a:xfrm flipH="1" flipV="1">
            <a:off x="7496173" y="2271713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364" name="Line 14"/>
          <p:cNvSpPr>
            <a:spLocks noChangeShapeType="1"/>
          </p:cNvSpPr>
          <p:nvPr/>
        </p:nvSpPr>
        <p:spPr bwMode="auto">
          <a:xfrm flipH="1" flipV="1">
            <a:off x="2237581" y="2197099"/>
            <a:ext cx="5017202" cy="53976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368" name="Line 14"/>
          <p:cNvSpPr>
            <a:spLocks noChangeShapeType="1"/>
          </p:cNvSpPr>
          <p:nvPr/>
        </p:nvSpPr>
        <p:spPr bwMode="auto">
          <a:xfrm flipH="1" flipV="1">
            <a:off x="2237580" y="2224087"/>
            <a:ext cx="2474821" cy="170894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371" name="Line 14"/>
          <p:cNvSpPr>
            <a:spLocks noChangeShapeType="1"/>
          </p:cNvSpPr>
          <p:nvPr/>
        </p:nvSpPr>
        <p:spPr bwMode="auto">
          <a:xfrm flipH="1">
            <a:off x="4859765" y="2279650"/>
            <a:ext cx="2526427" cy="165338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pic>
        <p:nvPicPr>
          <p:cNvPr id="357" name="Picture 2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699" y="2805113"/>
            <a:ext cx="762000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312" name="Picture 2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755" y="4364831"/>
            <a:ext cx="762000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115941" name="Picture 22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3" y="2628900"/>
            <a:ext cx="762000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472360" y="4807744"/>
            <a:ext cx="42484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b="1" dirty="0" smtClean="0"/>
              <a:t>Aufgabenbeschreibung:</a:t>
            </a:r>
          </a:p>
          <a:p>
            <a:r>
              <a:rPr lang="de-AT" sz="1800" dirty="0" smtClean="0"/>
              <a:t>1.) Projektplanung</a:t>
            </a:r>
          </a:p>
          <a:p>
            <a:r>
              <a:rPr lang="de-AT" sz="1800" dirty="0" smtClean="0"/>
              <a:t>2.) IP Adressplan erstellen und umsetzen</a:t>
            </a:r>
          </a:p>
          <a:p>
            <a:r>
              <a:rPr lang="de-AT" sz="1800" dirty="0" smtClean="0"/>
              <a:t>3.) ACL Listen integrieren</a:t>
            </a:r>
          </a:p>
          <a:p>
            <a:r>
              <a:rPr lang="de-AT" sz="1800" dirty="0" smtClean="0"/>
              <a:t>4.) Dokumentation</a:t>
            </a:r>
            <a:endParaRPr lang="de-AT" sz="1800" dirty="0"/>
          </a:p>
        </p:txBody>
      </p:sp>
      <p:sp>
        <p:nvSpPr>
          <p:cNvPr id="3" name="Textfeld 2"/>
          <p:cNvSpPr txBox="1"/>
          <p:nvPr/>
        </p:nvSpPr>
        <p:spPr>
          <a:xfrm>
            <a:off x="3571730" y="2244731"/>
            <a:ext cx="2518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 smtClean="0">
                <a:solidFill>
                  <a:srgbClr val="FF0000"/>
                </a:solidFill>
              </a:rPr>
              <a:t>Serielle Verbindungen 1 </a:t>
            </a:r>
            <a:r>
              <a:rPr lang="de-AT" sz="1400" dirty="0" err="1" smtClean="0">
                <a:solidFill>
                  <a:srgbClr val="FF0000"/>
                </a:solidFill>
              </a:rPr>
              <a:t>Gbit</a:t>
            </a:r>
            <a:r>
              <a:rPr lang="de-AT" sz="1400" dirty="0" smtClean="0">
                <a:solidFill>
                  <a:srgbClr val="FF0000"/>
                </a:solidFill>
              </a:rPr>
              <a:t>/s</a:t>
            </a:r>
            <a:endParaRPr lang="de-AT" sz="1400" dirty="0">
              <a:solidFill>
                <a:srgbClr val="FF0000"/>
              </a:solidFill>
            </a:endParaRPr>
          </a:p>
        </p:txBody>
      </p:sp>
      <p:sp>
        <p:nvSpPr>
          <p:cNvPr id="168" name="Line 14"/>
          <p:cNvSpPr>
            <a:spLocks noChangeShapeType="1"/>
          </p:cNvSpPr>
          <p:nvPr/>
        </p:nvSpPr>
        <p:spPr bwMode="auto">
          <a:xfrm flipH="1">
            <a:off x="1035050" y="2234882"/>
            <a:ext cx="894465" cy="3519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115924" name="Group 212"/>
          <p:cNvGrpSpPr>
            <a:grpSpLocks/>
          </p:cNvGrpSpPr>
          <p:nvPr/>
        </p:nvGrpSpPr>
        <p:grpSpPr bwMode="auto">
          <a:xfrm>
            <a:off x="719138" y="2197100"/>
            <a:ext cx="581025" cy="741363"/>
            <a:chOff x="3815" y="1609"/>
            <a:chExt cx="366" cy="467"/>
          </a:xfrm>
        </p:grpSpPr>
        <p:sp>
          <p:nvSpPr>
            <p:cNvPr id="115925" name="Freeform 213"/>
            <p:cNvSpPr>
              <a:spLocks noChangeArrowheads="1"/>
            </p:cNvSpPr>
            <p:nvPr/>
          </p:nvSpPr>
          <p:spPr bwMode="auto">
            <a:xfrm>
              <a:off x="3815" y="1609"/>
              <a:ext cx="367" cy="468"/>
            </a:xfrm>
            <a:custGeom>
              <a:avLst/>
              <a:gdLst>
                <a:gd name="T0" fmla="*/ 0 w 1620"/>
                <a:gd name="T1" fmla="*/ 2033 h 2065"/>
                <a:gd name="T2" fmla="*/ 220 w 1620"/>
                <a:gd name="T3" fmla="*/ 282 h 2065"/>
                <a:gd name="T4" fmla="*/ 670 w 1620"/>
                <a:gd name="T5" fmla="*/ 0 h 2065"/>
                <a:gd name="T6" fmla="*/ 1253 w 1620"/>
                <a:gd name="T7" fmla="*/ 419 h 2065"/>
                <a:gd name="T8" fmla="*/ 1619 w 1620"/>
                <a:gd name="T9" fmla="*/ 2064 h 2065"/>
                <a:gd name="T10" fmla="*/ 1143 w 1620"/>
                <a:gd name="T11" fmla="*/ 2055 h 2065"/>
                <a:gd name="T12" fmla="*/ 0 w 1620"/>
                <a:gd name="T13" fmla="*/ 2033 h 2065"/>
                <a:gd name="T14" fmla="*/ 0 w 1620"/>
                <a:gd name="T15" fmla="*/ 2033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0" h="2065">
                  <a:moveTo>
                    <a:pt x="0" y="2033"/>
                  </a:moveTo>
                  <a:lnTo>
                    <a:pt x="220" y="282"/>
                  </a:lnTo>
                  <a:lnTo>
                    <a:pt x="670" y="0"/>
                  </a:lnTo>
                  <a:lnTo>
                    <a:pt x="1253" y="419"/>
                  </a:lnTo>
                  <a:lnTo>
                    <a:pt x="1619" y="2064"/>
                  </a:lnTo>
                  <a:lnTo>
                    <a:pt x="1143" y="2055"/>
                  </a:lnTo>
                  <a:lnTo>
                    <a:pt x="0" y="2033"/>
                  </a:lnTo>
                  <a:lnTo>
                    <a:pt x="0" y="203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26" name="Freeform 214"/>
            <p:cNvSpPr>
              <a:spLocks noChangeArrowheads="1"/>
            </p:cNvSpPr>
            <p:nvPr/>
          </p:nvSpPr>
          <p:spPr bwMode="auto">
            <a:xfrm>
              <a:off x="3828" y="1623"/>
              <a:ext cx="338" cy="441"/>
            </a:xfrm>
            <a:custGeom>
              <a:avLst/>
              <a:gdLst>
                <a:gd name="T0" fmla="*/ 0 w 1492"/>
                <a:gd name="T1" fmla="*/ 1918 h 1946"/>
                <a:gd name="T2" fmla="*/ 207 w 1492"/>
                <a:gd name="T3" fmla="*/ 260 h 1946"/>
                <a:gd name="T4" fmla="*/ 617 w 1492"/>
                <a:gd name="T5" fmla="*/ 0 h 1946"/>
                <a:gd name="T6" fmla="*/ 1170 w 1492"/>
                <a:gd name="T7" fmla="*/ 392 h 1946"/>
                <a:gd name="T8" fmla="*/ 1491 w 1492"/>
                <a:gd name="T9" fmla="*/ 1945 h 1946"/>
                <a:gd name="T10" fmla="*/ 0 w 1492"/>
                <a:gd name="T11" fmla="*/ 1918 h 1946"/>
                <a:gd name="T12" fmla="*/ 0 w 1492"/>
                <a:gd name="T13" fmla="*/ 1918 h 1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2" h="1946">
                  <a:moveTo>
                    <a:pt x="0" y="1918"/>
                  </a:moveTo>
                  <a:lnTo>
                    <a:pt x="207" y="260"/>
                  </a:lnTo>
                  <a:lnTo>
                    <a:pt x="617" y="0"/>
                  </a:lnTo>
                  <a:lnTo>
                    <a:pt x="1170" y="392"/>
                  </a:lnTo>
                  <a:lnTo>
                    <a:pt x="1491" y="1945"/>
                  </a:lnTo>
                  <a:lnTo>
                    <a:pt x="0" y="1918"/>
                  </a:lnTo>
                  <a:lnTo>
                    <a:pt x="0" y="191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27" name="Freeform 215"/>
            <p:cNvSpPr>
              <a:spLocks noChangeArrowheads="1"/>
            </p:cNvSpPr>
            <p:nvPr/>
          </p:nvSpPr>
          <p:spPr bwMode="auto">
            <a:xfrm>
              <a:off x="3843" y="1641"/>
              <a:ext cx="151" cy="404"/>
            </a:xfrm>
            <a:custGeom>
              <a:avLst/>
              <a:gdLst>
                <a:gd name="T0" fmla="*/ 0 w 667"/>
                <a:gd name="T1" fmla="*/ 1782 h 1783"/>
                <a:gd name="T2" fmla="*/ 666 w 667"/>
                <a:gd name="T3" fmla="*/ 1782 h 1783"/>
                <a:gd name="T4" fmla="*/ 534 w 667"/>
                <a:gd name="T5" fmla="*/ 0 h 1783"/>
                <a:gd name="T6" fmla="*/ 185 w 667"/>
                <a:gd name="T7" fmla="*/ 212 h 1783"/>
                <a:gd name="T8" fmla="*/ 0 w 667"/>
                <a:gd name="T9" fmla="*/ 1782 h 1783"/>
                <a:gd name="T10" fmla="*/ 0 w 667"/>
                <a:gd name="T11" fmla="*/ 1782 h 1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7" h="1783">
                  <a:moveTo>
                    <a:pt x="0" y="1782"/>
                  </a:moveTo>
                  <a:lnTo>
                    <a:pt x="666" y="1782"/>
                  </a:lnTo>
                  <a:lnTo>
                    <a:pt x="534" y="0"/>
                  </a:lnTo>
                  <a:lnTo>
                    <a:pt x="185" y="212"/>
                  </a:lnTo>
                  <a:lnTo>
                    <a:pt x="0" y="1782"/>
                  </a:lnTo>
                  <a:lnTo>
                    <a:pt x="0" y="1782"/>
                  </a:lnTo>
                </a:path>
              </a:pathLst>
            </a:custGeom>
            <a:solidFill>
              <a:srgbClr val="407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28" name="Freeform 216"/>
            <p:cNvSpPr>
              <a:spLocks noChangeArrowheads="1"/>
            </p:cNvSpPr>
            <p:nvPr/>
          </p:nvSpPr>
          <p:spPr bwMode="auto">
            <a:xfrm>
              <a:off x="3976" y="1643"/>
              <a:ext cx="174" cy="407"/>
            </a:xfrm>
            <a:custGeom>
              <a:avLst/>
              <a:gdLst>
                <a:gd name="T0" fmla="*/ 477 w 769"/>
                <a:gd name="T1" fmla="*/ 335 h 1796"/>
                <a:gd name="T2" fmla="*/ 768 w 769"/>
                <a:gd name="T3" fmla="*/ 1795 h 1796"/>
                <a:gd name="T4" fmla="*/ 160 w 769"/>
                <a:gd name="T5" fmla="*/ 1786 h 1796"/>
                <a:gd name="T6" fmla="*/ 0 w 769"/>
                <a:gd name="T7" fmla="*/ 0 h 1796"/>
                <a:gd name="T8" fmla="*/ 477 w 769"/>
                <a:gd name="T9" fmla="*/ 335 h 1796"/>
                <a:gd name="T10" fmla="*/ 477 w 769"/>
                <a:gd name="T11" fmla="*/ 335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9" h="1796">
                  <a:moveTo>
                    <a:pt x="477" y="335"/>
                  </a:moveTo>
                  <a:lnTo>
                    <a:pt x="768" y="1795"/>
                  </a:lnTo>
                  <a:lnTo>
                    <a:pt x="160" y="1786"/>
                  </a:lnTo>
                  <a:lnTo>
                    <a:pt x="0" y="0"/>
                  </a:lnTo>
                  <a:lnTo>
                    <a:pt x="477" y="335"/>
                  </a:lnTo>
                  <a:lnTo>
                    <a:pt x="477" y="335"/>
                  </a:lnTo>
                </a:path>
              </a:pathLst>
            </a:custGeom>
            <a:solidFill>
              <a:srgbClr val="0038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29" name="Line 217"/>
            <p:cNvSpPr>
              <a:spLocks noChangeShapeType="1"/>
            </p:cNvSpPr>
            <p:nvPr/>
          </p:nvSpPr>
          <p:spPr bwMode="auto">
            <a:xfrm flipH="1" flipV="1">
              <a:off x="4057" y="1716"/>
              <a:ext cx="53" cy="32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15930" name="Freeform 218"/>
            <p:cNvSpPr>
              <a:spLocks noChangeArrowheads="1"/>
            </p:cNvSpPr>
            <p:nvPr/>
          </p:nvSpPr>
          <p:spPr bwMode="auto">
            <a:xfrm>
              <a:off x="4053" y="1698"/>
              <a:ext cx="60" cy="351"/>
            </a:xfrm>
            <a:custGeom>
              <a:avLst/>
              <a:gdLst>
                <a:gd name="T0" fmla="*/ 247 w 266"/>
                <a:gd name="T1" fmla="*/ 1547 h 1548"/>
                <a:gd name="T2" fmla="*/ 265 w 266"/>
                <a:gd name="T3" fmla="*/ 1547 h 1548"/>
                <a:gd name="T4" fmla="*/ 18 w 266"/>
                <a:gd name="T5" fmla="*/ 0 h 1548"/>
                <a:gd name="T6" fmla="*/ 0 w 266"/>
                <a:gd name="T7" fmla="*/ 0 h 1548"/>
                <a:gd name="T8" fmla="*/ 247 w 266"/>
                <a:gd name="T9" fmla="*/ 1547 h 1548"/>
                <a:gd name="T10" fmla="*/ 247 w 266"/>
                <a:gd name="T11" fmla="*/ 154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6" h="1548">
                  <a:moveTo>
                    <a:pt x="247" y="1547"/>
                  </a:moveTo>
                  <a:lnTo>
                    <a:pt x="265" y="154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247" y="1547"/>
                  </a:lnTo>
                  <a:lnTo>
                    <a:pt x="247" y="154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1" name="Freeform 219"/>
            <p:cNvSpPr>
              <a:spLocks noChangeArrowheads="1"/>
            </p:cNvSpPr>
            <p:nvPr/>
          </p:nvSpPr>
          <p:spPr bwMode="auto">
            <a:xfrm>
              <a:off x="3954" y="1919"/>
              <a:ext cx="15" cy="15"/>
            </a:xfrm>
            <a:custGeom>
              <a:avLst/>
              <a:gdLst>
                <a:gd name="T0" fmla="*/ 35 w 67"/>
                <a:gd name="T1" fmla="*/ 66 h 67"/>
                <a:gd name="T2" fmla="*/ 44 w 67"/>
                <a:gd name="T3" fmla="*/ 66 h 67"/>
                <a:gd name="T4" fmla="*/ 49 w 67"/>
                <a:gd name="T5" fmla="*/ 62 h 67"/>
                <a:gd name="T6" fmla="*/ 53 w 67"/>
                <a:gd name="T7" fmla="*/ 62 h 67"/>
                <a:gd name="T8" fmla="*/ 62 w 67"/>
                <a:gd name="T9" fmla="*/ 57 h 67"/>
                <a:gd name="T10" fmla="*/ 62 w 67"/>
                <a:gd name="T11" fmla="*/ 49 h 67"/>
                <a:gd name="T12" fmla="*/ 66 w 67"/>
                <a:gd name="T13" fmla="*/ 44 h 67"/>
                <a:gd name="T14" fmla="*/ 66 w 67"/>
                <a:gd name="T15" fmla="*/ 40 h 67"/>
                <a:gd name="T16" fmla="*/ 66 w 67"/>
                <a:gd name="T17" fmla="*/ 35 h 67"/>
                <a:gd name="T18" fmla="*/ 66 w 67"/>
                <a:gd name="T19" fmla="*/ 26 h 67"/>
                <a:gd name="T20" fmla="*/ 66 w 67"/>
                <a:gd name="T21" fmla="*/ 22 h 67"/>
                <a:gd name="T22" fmla="*/ 62 w 67"/>
                <a:gd name="T23" fmla="*/ 13 h 67"/>
                <a:gd name="T24" fmla="*/ 57 w 67"/>
                <a:gd name="T25" fmla="*/ 9 h 67"/>
                <a:gd name="T26" fmla="*/ 53 w 67"/>
                <a:gd name="T27" fmla="*/ 4 h 67"/>
                <a:gd name="T28" fmla="*/ 44 w 67"/>
                <a:gd name="T29" fmla="*/ 4 h 67"/>
                <a:gd name="T30" fmla="*/ 40 w 67"/>
                <a:gd name="T31" fmla="*/ 4 h 67"/>
                <a:gd name="T32" fmla="*/ 31 w 67"/>
                <a:gd name="T33" fmla="*/ 0 h 67"/>
                <a:gd name="T34" fmla="*/ 22 w 67"/>
                <a:gd name="T35" fmla="*/ 4 h 67"/>
                <a:gd name="T36" fmla="*/ 18 w 67"/>
                <a:gd name="T37" fmla="*/ 4 h 67"/>
                <a:gd name="T38" fmla="*/ 13 w 67"/>
                <a:gd name="T39" fmla="*/ 4 h 67"/>
                <a:gd name="T40" fmla="*/ 9 w 67"/>
                <a:gd name="T41" fmla="*/ 9 h 67"/>
                <a:gd name="T42" fmla="*/ 4 w 67"/>
                <a:gd name="T43" fmla="*/ 13 h 67"/>
                <a:gd name="T44" fmla="*/ 0 w 67"/>
                <a:gd name="T45" fmla="*/ 22 h 67"/>
                <a:gd name="T46" fmla="*/ 0 w 67"/>
                <a:gd name="T47" fmla="*/ 26 h 67"/>
                <a:gd name="T48" fmla="*/ 0 w 67"/>
                <a:gd name="T49" fmla="*/ 35 h 67"/>
                <a:gd name="T50" fmla="*/ 0 w 67"/>
                <a:gd name="T51" fmla="*/ 40 h 67"/>
                <a:gd name="T52" fmla="*/ 0 w 67"/>
                <a:gd name="T53" fmla="*/ 44 h 67"/>
                <a:gd name="T54" fmla="*/ 4 w 67"/>
                <a:gd name="T55" fmla="*/ 49 h 67"/>
                <a:gd name="T56" fmla="*/ 9 w 67"/>
                <a:gd name="T57" fmla="*/ 57 h 67"/>
                <a:gd name="T58" fmla="*/ 13 w 67"/>
                <a:gd name="T59" fmla="*/ 62 h 67"/>
                <a:gd name="T60" fmla="*/ 22 w 67"/>
                <a:gd name="T61" fmla="*/ 62 h 67"/>
                <a:gd name="T62" fmla="*/ 26 w 67"/>
                <a:gd name="T63" fmla="*/ 66 h 67"/>
                <a:gd name="T64" fmla="*/ 35 w 67"/>
                <a:gd name="T65" fmla="*/ 66 h 67"/>
                <a:gd name="T66" fmla="*/ 35 w 67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4"/>
                  </a:lnTo>
                  <a:lnTo>
                    <a:pt x="66" y="40"/>
                  </a:lnTo>
                  <a:lnTo>
                    <a:pt x="66" y="35"/>
                  </a:lnTo>
                  <a:lnTo>
                    <a:pt x="66" y="26"/>
                  </a:lnTo>
                  <a:lnTo>
                    <a:pt x="66" y="22"/>
                  </a:lnTo>
                  <a:lnTo>
                    <a:pt x="62" y="13"/>
                  </a:lnTo>
                  <a:lnTo>
                    <a:pt x="57" y="9"/>
                  </a:lnTo>
                  <a:lnTo>
                    <a:pt x="53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1" y="0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3" y="4"/>
                  </a:lnTo>
                  <a:lnTo>
                    <a:pt x="9" y="9"/>
                  </a:lnTo>
                  <a:lnTo>
                    <a:pt x="4" y="13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DF4D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2" name="Freeform 220"/>
            <p:cNvSpPr>
              <a:spLocks noChangeArrowheads="1"/>
            </p:cNvSpPr>
            <p:nvPr/>
          </p:nvSpPr>
          <p:spPr bwMode="auto">
            <a:xfrm>
              <a:off x="3955" y="1944"/>
              <a:ext cx="16" cy="14"/>
            </a:xfrm>
            <a:custGeom>
              <a:avLst/>
              <a:gdLst>
                <a:gd name="T0" fmla="*/ 34 w 71"/>
                <a:gd name="T1" fmla="*/ 62 h 63"/>
                <a:gd name="T2" fmla="*/ 43 w 71"/>
                <a:gd name="T3" fmla="*/ 62 h 63"/>
                <a:gd name="T4" fmla="*/ 48 w 71"/>
                <a:gd name="T5" fmla="*/ 57 h 63"/>
                <a:gd name="T6" fmla="*/ 56 w 71"/>
                <a:gd name="T7" fmla="*/ 57 h 63"/>
                <a:gd name="T8" fmla="*/ 61 w 71"/>
                <a:gd name="T9" fmla="*/ 53 h 63"/>
                <a:gd name="T10" fmla="*/ 65 w 71"/>
                <a:gd name="T11" fmla="*/ 49 h 63"/>
                <a:gd name="T12" fmla="*/ 65 w 71"/>
                <a:gd name="T13" fmla="*/ 40 h 63"/>
                <a:gd name="T14" fmla="*/ 70 w 71"/>
                <a:gd name="T15" fmla="*/ 35 h 63"/>
                <a:gd name="T16" fmla="*/ 70 w 71"/>
                <a:gd name="T17" fmla="*/ 31 h 63"/>
                <a:gd name="T18" fmla="*/ 70 w 71"/>
                <a:gd name="T19" fmla="*/ 22 h 63"/>
                <a:gd name="T20" fmla="*/ 65 w 71"/>
                <a:gd name="T21" fmla="*/ 18 h 63"/>
                <a:gd name="T22" fmla="*/ 65 w 71"/>
                <a:gd name="T23" fmla="*/ 13 h 63"/>
                <a:gd name="T24" fmla="*/ 61 w 71"/>
                <a:gd name="T25" fmla="*/ 4 h 63"/>
                <a:gd name="T26" fmla="*/ 56 w 71"/>
                <a:gd name="T27" fmla="*/ 4 h 63"/>
                <a:gd name="T28" fmla="*/ 48 w 71"/>
                <a:gd name="T29" fmla="*/ 0 h 63"/>
                <a:gd name="T30" fmla="*/ 43 w 71"/>
                <a:gd name="T31" fmla="*/ 0 h 63"/>
                <a:gd name="T32" fmla="*/ 34 w 71"/>
                <a:gd name="T33" fmla="*/ 0 h 63"/>
                <a:gd name="T34" fmla="*/ 25 w 71"/>
                <a:gd name="T35" fmla="*/ 0 h 63"/>
                <a:gd name="T36" fmla="*/ 21 w 71"/>
                <a:gd name="T37" fmla="*/ 0 h 63"/>
                <a:gd name="T38" fmla="*/ 17 w 71"/>
                <a:gd name="T39" fmla="*/ 4 h 63"/>
                <a:gd name="T40" fmla="*/ 8 w 71"/>
                <a:gd name="T41" fmla="*/ 4 h 63"/>
                <a:gd name="T42" fmla="*/ 3 w 71"/>
                <a:gd name="T43" fmla="*/ 13 h 63"/>
                <a:gd name="T44" fmla="*/ 3 w 71"/>
                <a:gd name="T45" fmla="*/ 18 h 63"/>
                <a:gd name="T46" fmla="*/ 0 w 71"/>
                <a:gd name="T47" fmla="*/ 22 h 63"/>
                <a:gd name="T48" fmla="*/ 0 w 71"/>
                <a:gd name="T49" fmla="*/ 31 h 63"/>
                <a:gd name="T50" fmla="*/ 0 w 71"/>
                <a:gd name="T51" fmla="*/ 35 h 63"/>
                <a:gd name="T52" fmla="*/ 3 w 71"/>
                <a:gd name="T53" fmla="*/ 44 h 63"/>
                <a:gd name="T54" fmla="*/ 3 w 71"/>
                <a:gd name="T55" fmla="*/ 49 h 63"/>
                <a:gd name="T56" fmla="*/ 8 w 71"/>
                <a:gd name="T57" fmla="*/ 53 h 63"/>
                <a:gd name="T58" fmla="*/ 12 w 71"/>
                <a:gd name="T59" fmla="*/ 57 h 63"/>
                <a:gd name="T60" fmla="*/ 21 w 71"/>
                <a:gd name="T61" fmla="*/ 62 h 63"/>
                <a:gd name="T62" fmla="*/ 25 w 71"/>
                <a:gd name="T63" fmla="*/ 62 h 63"/>
                <a:gd name="T64" fmla="*/ 34 w 71"/>
                <a:gd name="T65" fmla="*/ 62 h 63"/>
                <a:gd name="T66" fmla="*/ 34 w 71"/>
                <a:gd name="T67" fmla="*/ 6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63">
                  <a:moveTo>
                    <a:pt x="34" y="62"/>
                  </a:moveTo>
                  <a:lnTo>
                    <a:pt x="43" y="62"/>
                  </a:lnTo>
                  <a:lnTo>
                    <a:pt x="48" y="57"/>
                  </a:lnTo>
                  <a:lnTo>
                    <a:pt x="56" y="57"/>
                  </a:lnTo>
                  <a:lnTo>
                    <a:pt x="61" y="53"/>
                  </a:lnTo>
                  <a:lnTo>
                    <a:pt x="65" y="49"/>
                  </a:lnTo>
                  <a:lnTo>
                    <a:pt x="65" y="40"/>
                  </a:lnTo>
                  <a:lnTo>
                    <a:pt x="70" y="35"/>
                  </a:lnTo>
                  <a:lnTo>
                    <a:pt x="70" y="31"/>
                  </a:lnTo>
                  <a:lnTo>
                    <a:pt x="70" y="22"/>
                  </a:lnTo>
                  <a:lnTo>
                    <a:pt x="65" y="18"/>
                  </a:lnTo>
                  <a:lnTo>
                    <a:pt x="65" y="13"/>
                  </a:lnTo>
                  <a:lnTo>
                    <a:pt x="61" y="4"/>
                  </a:lnTo>
                  <a:lnTo>
                    <a:pt x="56" y="4"/>
                  </a:lnTo>
                  <a:lnTo>
                    <a:pt x="48" y="0"/>
                  </a:lnTo>
                  <a:lnTo>
                    <a:pt x="43" y="0"/>
                  </a:lnTo>
                  <a:lnTo>
                    <a:pt x="34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7" y="4"/>
                  </a:lnTo>
                  <a:lnTo>
                    <a:pt x="8" y="4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0" y="22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8" y="53"/>
                  </a:lnTo>
                  <a:lnTo>
                    <a:pt x="12" y="57"/>
                  </a:lnTo>
                  <a:lnTo>
                    <a:pt x="21" y="62"/>
                  </a:lnTo>
                  <a:lnTo>
                    <a:pt x="25" y="62"/>
                  </a:lnTo>
                  <a:lnTo>
                    <a:pt x="34" y="62"/>
                  </a:lnTo>
                  <a:lnTo>
                    <a:pt x="34" y="6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3" name="Freeform 221"/>
            <p:cNvSpPr>
              <a:spLocks noChangeArrowheads="1"/>
            </p:cNvSpPr>
            <p:nvPr/>
          </p:nvSpPr>
          <p:spPr bwMode="auto">
            <a:xfrm>
              <a:off x="3956" y="1965"/>
              <a:ext cx="16" cy="15"/>
            </a:xfrm>
            <a:custGeom>
              <a:avLst/>
              <a:gdLst>
                <a:gd name="T0" fmla="*/ 35 w 72"/>
                <a:gd name="T1" fmla="*/ 66 h 67"/>
                <a:gd name="T2" fmla="*/ 44 w 72"/>
                <a:gd name="T3" fmla="*/ 66 h 67"/>
                <a:gd name="T4" fmla="*/ 49 w 72"/>
                <a:gd name="T5" fmla="*/ 62 h 67"/>
                <a:gd name="T6" fmla="*/ 53 w 72"/>
                <a:gd name="T7" fmla="*/ 62 h 67"/>
                <a:gd name="T8" fmla="*/ 62 w 72"/>
                <a:gd name="T9" fmla="*/ 57 h 67"/>
                <a:gd name="T10" fmla="*/ 62 w 72"/>
                <a:gd name="T11" fmla="*/ 49 h 67"/>
                <a:gd name="T12" fmla="*/ 66 w 72"/>
                <a:gd name="T13" fmla="*/ 49 h 67"/>
                <a:gd name="T14" fmla="*/ 71 w 72"/>
                <a:gd name="T15" fmla="*/ 40 h 67"/>
                <a:gd name="T16" fmla="*/ 71 w 72"/>
                <a:gd name="T17" fmla="*/ 35 h 67"/>
                <a:gd name="T18" fmla="*/ 71 w 72"/>
                <a:gd name="T19" fmla="*/ 26 h 67"/>
                <a:gd name="T20" fmla="*/ 66 w 72"/>
                <a:gd name="T21" fmla="*/ 22 h 67"/>
                <a:gd name="T22" fmla="*/ 66 w 72"/>
                <a:gd name="T23" fmla="*/ 13 h 67"/>
                <a:gd name="T24" fmla="*/ 62 w 72"/>
                <a:gd name="T25" fmla="*/ 13 h 67"/>
                <a:gd name="T26" fmla="*/ 53 w 72"/>
                <a:gd name="T27" fmla="*/ 9 h 67"/>
                <a:gd name="T28" fmla="*/ 49 w 72"/>
                <a:gd name="T29" fmla="*/ 4 h 67"/>
                <a:gd name="T30" fmla="*/ 44 w 72"/>
                <a:gd name="T31" fmla="*/ 0 h 67"/>
                <a:gd name="T32" fmla="*/ 35 w 72"/>
                <a:gd name="T33" fmla="*/ 0 h 67"/>
                <a:gd name="T34" fmla="*/ 31 w 72"/>
                <a:gd name="T35" fmla="*/ 4 h 67"/>
                <a:gd name="T36" fmla="*/ 22 w 72"/>
                <a:gd name="T37" fmla="*/ 4 h 67"/>
                <a:gd name="T38" fmla="*/ 18 w 72"/>
                <a:gd name="T39" fmla="*/ 9 h 67"/>
                <a:gd name="T40" fmla="*/ 9 w 72"/>
                <a:gd name="T41" fmla="*/ 13 h 67"/>
                <a:gd name="T42" fmla="*/ 4 w 72"/>
                <a:gd name="T43" fmla="*/ 13 h 67"/>
                <a:gd name="T44" fmla="*/ 4 w 72"/>
                <a:gd name="T45" fmla="*/ 22 h 67"/>
                <a:gd name="T46" fmla="*/ 0 w 72"/>
                <a:gd name="T47" fmla="*/ 26 h 67"/>
                <a:gd name="T48" fmla="*/ 0 w 72"/>
                <a:gd name="T49" fmla="*/ 35 h 67"/>
                <a:gd name="T50" fmla="*/ 0 w 72"/>
                <a:gd name="T51" fmla="*/ 40 h 67"/>
                <a:gd name="T52" fmla="*/ 0 w 72"/>
                <a:gd name="T53" fmla="*/ 49 h 67"/>
                <a:gd name="T54" fmla="*/ 4 w 72"/>
                <a:gd name="T55" fmla="*/ 49 h 67"/>
                <a:gd name="T56" fmla="*/ 9 w 72"/>
                <a:gd name="T57" fmla="*/ 57 h 67"/>
                <a:gd name="T58" fmla="*/ 13 w 72"/>
                <a:gd name="T59" fmla="*/ 62 h 67"/>
                <a:gd name="T60" fmla="*/ 22 w 72"/>
                <a:gd name="T61" fmla="*/ 62 h 67"/>
                <a:gd name="T62" fmla="*/ 26 w 72"/>
                <a:gd name="T63" fmla="*/ 66 h 67"/>
                <a:gd name="T64" fmla="*/ 35 w 72"/>
                <a:gd name="T65" fmla="*/ 66 h 67"/>
                <a:gd name="T66" fmla="*/ 35 w 72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2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9"/>
                  </a:lnTo>
                  <a:lnTo>
                    <a:pt x="71" y="40"/>
                  </a:lnTo>
                  <a:lnTo>
                    <a:pt x="71" y="35"/>
                  </a:lnTo>
                  <a:lnTo>
                    <a:pt x="71" y="26"/>
                  </a:lnTo>
                  <a:lnTo>
                    <a:pt x="66" y="22"/>
                  </a:lnTo>
                  <a:lnTo>
                    <a:pt x="66" y="13"/>
                  </a:lnTo>
                  <a:lnTo>
                    <a:pt x="62" y="13"/>
                  </a:lnTo>
                  <a:lnTo>
                    <a:pt x="53" y="9"/>
                  </a:lnTo>
                  <a:lnTo>
                    <a:pt x="49" y="4"/>
                  </a:lnTo>
                  <a:lnTo>
                    <a:pt x="44" y="0"/>
                  </a:lnTo>
                  <a:lnTo>
                    <a:pt x="35" y="0"/>
                  </a:lnTo>
                  <a:lnTo>
                    <a:pt x="31" y="4"/>
                  </a:lnTo>
                  <a:lnTo>
                    <a:pt x="22" y="4"/>
                  </a:lnTo>
                  <a:lnTo>
                    <a:pt x="18" y="9"/>
                  </a:lnTo>
                  <a:lnTo>
                    <a:pt x="9" y="13"/>
                  </a:lnTo>
                  <a:lnTo>
                    <a:pt x="4" y="13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9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FFE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4" name="Freeform 222"/>
            <p:cNvSpPr>
              <a:spLocks noChangeArrowheads="1"/>
            </p:cNvSpPr>
            <p:nvPr/>
          </p:nvSpPr>
          <p:spPr bwMode="auto">
            <a:xfrm>
              <a:off x="3843" y="1663"/>
              <a:ext cx="84" cy="383"/>
            </a:xfrm>
            <a:custGeom>
              <a:avLst/>
              <a:gdLst>
                <a:gd name="T0" fmla="*/ 0 w 371"/>
                <a:gd name="T1" fmla="*/ 1685 h 1690"/>
                <a:gd name="T2" fmla="*/ 190 w 371"/>
                <a:gd name="T3" fmla="*/ 115 h 1690"/>
                <a:gd name="T4" fmla="*/ 370 w 371"/>
                <a:gd name="T5" fmla="*/ 0 h 1690"/>
                <a:gd name="T6" fmla="*/ 88 w 371"/>
                <a:gd name="T7" fmla="*/ 1689 h 1690"/>
                <a:gd name="T8" fmla="*/ 0 w 371"/>
                <a:gd name="T9" fmla="*/ 1685 h 1690"/>
                <a:gd name="T10" fmla="*/ 0 w 371"/>
                <a:gd name="T11" fmla="*/ 1685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1690">
                  <a:moveTo>
                    <a:pt x="0" y="1685"/>
                  </a:moveTo>
                  <a:lnTo>
                    <a:pt x="190" y="115"/>
                  </a:lnTo>
                  <a:lnTo>
                    <a:pt x="370" y="0"/>
                  </a:lnTo>
                  <a:lnTo>
                    <a:pt x="88" y="1689"/>
                  </a:lnTo>
                  <a:lnTo>
                    <a:pt x="0" y="1685"/>
                  </a:lnTo>
                  <a:lnTo>
                    <a:pt x="0" y="16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5" name="Freeform 223"/>
            <p:cNvSpPr>
              <a:spLocks noChangeArrowheads="1"/>
            </p:cNvSpPr>
            <p:nvPr/>
          </p:nvSpPr>
          <p:spPr bwMode="auto">
            <a:xfrm>
              <a:off x="3892" y="1674"/>
              <a:ext cx="62" cy="48"/>
            </a:xfrm>
            <a:custGeom>
              <a:avLst/>
              <a:gdLst>
                <a:gd name="T0" fmla="*/ 273 w 274"/>
                <a:gd name="T1" fmla="*/ 0 h 212"/>
                <a:gd name="T2" fmla="*/ 273 w 274"/>
                <a:gd name="T3" fmla="*/ 87 h 212"/>
                <a:gd name="T4" fmla="*/ 0 w 274"/>
                <a:gd name="T5" fmla="*/ 211 h 212"/>
                <a:gd name="T6" fmla="*/ 4 w 274"/>
                <a:gd name="T7" fmla="*/ 153 h 212"/>
                <a:gd name="T8" fmla="*/ 273 w 274"/>
                <a:gd name="T9" fmla="*/ 0 h 212"/>
                <a:gd name="T10" fmla="*/ 273 w 274"/>
                <a:gd name="T11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12">
                  <a:moveTo>
                    <a:pt x="273" y="0"/>
                  </a:moveTo>
                  <a:lnTo>
                    <a:pt x="273" y="87"/>
                  </a:lnTo>
                  <a:lnTo>
                    <a:pt x="0" y="211"/>
                  </a:lnTo>
                  <a:lnTo>
                    <a:pt x="4" y="153"/>
                  </a:lnTo>
                  <a:lnTo>
                    <a:pt x="273" y="0"/>
                  </a:lnTo>
                  <a:lnTo>
                    <a:pt x="273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115936" name="Line 224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15937" name="Line 225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15938" name="Line 226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15939" name="Line 227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15940" name="Freeform 228"/>
            <p:cNvSpPr>
              <a:spLocks noChangeArrowheads="1"/>
            </p:cNvSpPr>
            <p:nvPr/>
          </p:nvSpPr>
          <p:spPr bwMode="auto">
            <a:xfrm>
              <a:off x="3892" y="1722"/>
              <a:ext cx="67" cy="42"/>
            </a:xfrm>
            <a:custGeom>
              <a:avLst/>
              <a:gdLst>
                <a:gd name="T0" fmla="*/ 291 w 296"/>
                <a:gd name="T1" fmla="*/ 0 h 186"/>
                <a:gd name="T2" fmla="*/ 295 w 296"/>
                <a:gd name="T3" fmla="*/ 93 h 186"/>
                <a:gd name="T4" fmla="*/ 0 w 296"/>
                <a:gd name="T5" fmla="*/ 185 h 186"/>
                <a:gd name="T6" fmla="*/ 0 w 296"/>
                <a:gd name="T7" fmla="*/ 119 h 186"/>
                <a:gd name="T8" fmla="*/ 291 w 296"/>
                <a:gd name="T9" fmla="*/ 0 h 186"/>
                <a:gd name="T10" fmla="*/ 291 w 296"/>
                <a:gd name="T11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86">
                  <a:moveTo>
                    <a:pt x="291" y="0"/>
                  </a:moveTo>
                  <a:lnTo>
                    <a:pt x="295" y="93"/>
                  </a:lnTo>
                  <a:lnTo>
                    <a:pt x="0" y="185"/>
                  </a:lnTo>
                  <a:lnTo>
                    <a:pt x="0" y="119"/>
                  </a:lnTo>
                  <a:lnTo>
                    <a:pt x="291" y="0"/>
                  </a:lnTo>
                  <a:lnTo>
                    <a:pt x="29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</p:grpSp>
      <p:sp>
        <p:nvSpPr>
          <p:cNvPr id="170" name="Line 14"/>
          <p:cNvSpPr>
            <a:spLocks noChangeShapeType="1"/>
          </p:cNvSpPr>
          <p:nvPr/>
        </p:nvSpPr>
        <p:spPr bwMode="auto">
          <a:xfrm flipH="1">
            <a:off x="3761435" y="3987005"/>
            <a:ext cx="1038577" cy="4254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295" name="Group 212"/>
          <p:cNvGrpSpPr>
            <a:grpSpLocks/>
          </p:cNvGrpSpPr>
          <p:nvPr/>
        </p:nvGrpSpPr>
        <p:grpSpPr bwMode="auto">
          <a:xfrm>
            <a:off x="3470130" y="3933031"/>
            <a:ext cx="581025" cy="741363"/>
            <a:chOff x="3815" y="1609"/>
            <a:chExt cx="366" cy="467"/>
          </a:xfrm>
        </p:grpSpPr>
        <p:sp>
          <p:nvSpPr>
            <p:cNvPr id="296" name="Freeform 213"/>
            <p:cNvSpPr>
              <a:spLocks noChangeArrowheads="1"/>
            </p:cNvSpPr>
            <p:nvPr/>
          </p:nvSpPr>
          <p:spPr bwMode="auto">
            <a:xfrm>
              <a:off x="3815" y="1609"/>
              <a:ext cx="367" cy="468"/>
            </a:xfrm>
            <a:custGeom>
              <a:avLst/>
              <a:gdLst>
                <a:gd name="T0" fmla="*/ 0 w 1620"/>
                <a:gd name="T1" fmla="*/ 2033 h 2065"/>
                <a:gd name="T2" fmla="*/ 220 w 1620"/>
                <a:gd name="T3" fmla="*/ 282 h 2065"/>
                <a:gd name="T4" fmla="*/ 670 w 1620"/>
                <a:gd name="T5" fmla="*/ 0 h 2065"/>
                <a:gd name="T6" fmla="*/ 1253 w 1620"/>
                <a:gd name="T7" fmla="*/ 419 h 2065"/>
                <a:gd name="T8" fmla="*/ 1619 w 1620"/>
                <a:gd name="T9" fmla="*/ 2064 h 2065"/>
                <a:gd name="T10" fmla="*/ 1143 w 1620"/>
                <a:gd name="T11" fmla="*/ 2055 h 2065"/>
                <a:gd name="T12" fmla="*/ 0 w 1620"/>
                <a:gd name="T13" fmla="*/ 2033 h 2065"/>
                <a:gd name="T14" fmla="*/ 0 w 1620"/>
                <a:gd name="T15" fmla="*/ 2033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0" h="2065">
                  <a:moveTo>
                    <a:pt x="0" y="2033"/>
                  </a:moveTo>
                  <a:lnTo>
                    <a:pt x="220" y="282"/>
                  </a:lnTo>
                  <a:lnTo>
                    <a:pt x="670" y="0"/>
                  </a:lnTo>
                  <a:lnTo>
                    <a:pt x="1253" y="419"/>
                  </a:lnTo>
                  <a:lnTo>
                    <a:pt x="1619" y="2064"/>
                  </a:lnTo>
                  <a:lnTo>
                    <a:pt x="1143" y="2055"/>
                  </a:lnTo>
                  <a:lnTo>
                    <a:pt x="0" y="2033"/>
                  </a:lnTo>
                  <a:lnTo>
                    <a:pt x="0" y="203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297" name="Freeform 214"/>
            <p:cNvSpPr>
              <a:spLocks noChangeArrowheads="1"/>
            </p:cNvSpPr>
            <p:nvPr/>
          </p:nvSpPr>
          <p:spPr bwMode="auto">
            <a:xfrm>
              <a:off x="3828" y="1623"/>
              <a:ext cx="338" cy="441"/>
            </a:xfrm>
            <a:custGeom>
              <a:avLst/>
              <a:gdLst>
                <a:gd name="T0" fmla="*/ 0 w 1492"/>
                <a:gd name="T1" fmla="*/ 1918 h 1946"/>
                <a:gd name="T2" fmla="*/ 207 w 1492"/>
                <a:gd name="T3" fmla="*/ 260 h 1946"/>
                <a:gd name="T4" fmla="*/ 617 w 1492"/>
                <a:gd name="T5" fmla="*/ 0 h 1946"/>
                <a:gd name="T6" fmla="*/ 1170 w 1492"/>
                <a:gd name="T7" fmla="*/ 392 h 1946"/>
                <a:gd name="T8" fmla="*/ 1491 w 1492"/>
                <a:gd name="T9" fmla="*/ 1945 h 1946"/>
                <a:gd name="T10" fmla="*/ 0 w 1492"/>
                <a:gd name="T11" fmla="*/ 1918 h 1946"/>
                <a:gd name="T12" fmla="*/ 0 w 1492"/>
                <a:gd name="T13" fmla="*/ 1918 h 1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2" h="1946">
                  <a:moveTo>
                    <a:pt x="0" y="1918"/>
                  </a:moveTo>
                  <a:lnTo>
                    <a:pt x="207" y="260"/>
                  </a:lnTo>
                  <a:lnTo>
                    <a:pt x="617" y="0"/>
                  </a:lnTo>
                  <a:lnTo>
                    <a:pt x="1170" y="392"/>
                  </a:lnTo>
                  <a:lnTo>
                    <a:pt x="1491" y="1945"/>
                  </a:lnTo>
                  <a:lnTo>
                    <a:pt x="0" y="1918"/>
                  </a:lnTo>
                  <a:lnTo>
                    <a:pt x="0" y="191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298" name="Freeform 215"/>
            <p:cNvSpPr>
              <a:spLocks noChangeArrowheads="1"/>
            </p:cNvSpPr>
            <p:nvPr/>
          </p:nvSpPr>
          <p:spPr bwMode="auto">
            <a:xfrm>
              <a:off x="3843" y="1641"/>
              <a:ext cx="151" cy="404"/>
            </a:xfrm>
            <a:custGeom>
              <a:avLst/>
              <a:gdLst>
                <a:gd name="T0" fmla="*/ 0 w 667"/>
                <a:gd name="T1" fmla="*/ 1782 h 1783"/>
                <a:gd name="T2" fmla="*/ 666 w 667"/>
                <a:gd name="T3" fmla="*/ 1782 h 1783"/>
                <a:gd name="T4" fmla="*/ 534 w 667"/>
                <a:gd name="T5" fmla="*/ 0 h 1783"/>
                <a:gd name="T6" fmla="*/ 185 w 667"/>
                <a:gd name="T7" fmla="*/ 212 h 1783"/>
                <a:gd name="T8" fmla="*/ 0 w 667"/>
                <a:gd name="T9" fmla="*/ 1782 h 1783"/>
                <a:gd name="T10" fmla="*/ 0 w 667"/>
                <a:gd name="T11" fmla="*/ 1782 h 1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7" h="1783">
                  <a:moveTo>
                    <a:pt x="0" y="1782"/>
                  </a:moveTo>
                  <a:lnTo>
                    <a:pt x="666" y="1782"/>
                  </a:lnTo>
                  <a:lnTo>
                    <a:pt x="534" y="0"/>
                  </a:lnTo>
                  <a:lnTo>
                    <a:pt x="185" y="212"/>
                  </a:lnTo>
                  <a:lnTo>
                    <a:pt x="0" y="1782"/>
                  </a:lnTo>
                  <a:lnTo>
                    <a:pt x="0" y="1782"/>
                  </a:lnTo>
                </a:path>
              </a:pathLst>
            </a:custGeom>
            <a:solidFill>
              <a:srgbClr val="407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299" name="Freeform 216"/>
            <p:cNvSpPr>
              <a:spLocks noChangeArrowheads="1"/>
            </p:cNvSpPr>
            <p:nvPr/>
          </p:nvSpPr>
          <p:spPr bwMode="auto">
            <a:xfrm>
              <a:off x="3976" y="1643"/>
              <a:ext cx="174" cy="407"/>
            </a:xfrm>
            <a:custGeom>
              <a:avLst/>
              <a:gdLst>
                <a:gd name="T0" fmla="*/ 477 w 769"/>
                <a:gd name="T1" fmla="*/ 335 h 1796"/>
                <a:gd name="T2" fmla="*/ 768 w 769"/>
                <a:gd name="T3" fmla="*/ 1795 h 1796"/>
                <a:gd name="T4" fmla="*/ 160 w 769"/>
                <a:gd name="T5" fmla="*/ 1786 h 1796"/>
                <a:gd name="T6" fmla="*/ 0 w 769"/>
                <a:gd name="T7" fmla="*/ 0 h 1796"/>
                <a:gd name="T8" fmla="*/ 477 w 769"/>
                <a:gd name="T9" fmla="*/ 335 h 1796"/>
                <a:gd name="T10" fmla="*/ 477 w 769"/>
                <a:gd name="T11" fmla="*/ 335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9" h="1796">
                  <a:moveTo>
                    <a:pt x="477" y="335"/>
                  </a:moveTo>
                  <a:lnTo>
                    <a:pt x="768" y="1795"/>
                  </a:lnTo>
                  <a:lnTo>
                    <a:pt x="160" y="1786"/>
                  </a:lnTo>
                  <a:lnTo>
                    <a:pt x="0" y="0"/>
                  </a:lnTo>
                  <a:lnTo>
                    <a:pt x="477" y="335"/>
                  </a:lnTo>
                  <a:lnTo>
                    <a:pt x="477" y="335"/>
                  </a:lnTo>
                </a:path>
              </a:pathLst>
            </a:custGeom>
            <a:solidFill>
              <a:srgbClr val="0038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0" name="Line 217"/>
            <p:cNvSpPr>
              <a:spLocks noChangeShapeType="1"/>
            </p:cNvSpPr>
            <p:nvPr/>
          </p:nvSpPr>
          <p:spPr bwMode="auto">
            <a:xfrm flipH="1" flipV="1">
              <a:off x="4057" y="1716"/>
              <a:ext cx="53" cy="32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01" name="Freeform 218"/>
            <p:cNvSpPr>
              <a:spLocks noChangeArrowheads="1"/>
            </p:cNvSpPr>
            <p:nvPr/>
          </p:nvSpPr>
          <p:spPr bwMode="auto">
            <a:xfrm>
              <a:off x="4053" y="1698"/>
              <a:ext cx="60" cy="351"/>
            </a:xfrm>
            <a:custGeom>
              <a:avLst/>
              <a:gdLst>
                <a:gd name="T0" fmla="*/ 247 w 266"/>
                <a:gd name="T1" fmla="*/ 1547 h 1548"/>
                <a:gd name="T2" fmla="*/ 265 w 266"/>
                <a:gd name="T3" fmla="*/ 1547 h 1548"/>
                <a:gd name="T4" fmla="*/ 18 w 266"/>
                <a:gd name="T5" fmla="*/ 0 h 1548"/>
                <a:gd name="T6" fmla="*/ 0 w 266"/>
                <a:gd name="T7" fmla="*/ 0 h 1548"/>
                <a:gd name="T8" fmla="*/ 247 w 266"/>
                <a:gd name="T9" fmla="*/ 1547 h 1548"/>
                <a:gd name="T10" fmla="*/ 247 w 266"/>
                <a:gd name="T11" fmla="*/ 154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6" h="1548">
                  <a:moveTo>
                    <a:pt x="247" y="1547"/>
                  </a:moveTo>
                  <a:lnTo>
                    <a:pt x="265" y="154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247" y="1547"/>
                  </a:lnTo>
                  <a:lnTo>
                    <a:pt x="247" y="154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2" name="Freeform 219"/>
            <p:cNvSpPr>
              <a:spLocks noChangeArrowheads="1"/>
            </p:cNvSpPr>
            <p:nvPr/>
          </p:nvSpPr>
          <p:spPr bwMode="auto">
            <a:xfrm>
              <a:off x="3954" y="1919"/>
              <a:ext cx="15" cy="15"/>
            </a:xfrm>
            <a:custGeom>
              <a:avLst/>
              <a:gdLst>
                <a:gd name="T0" fmla="*/ 35 w 67"/>
                <a:gd name="T1" fmla="*/ 66 h 67"/>
                <a:gd name="T2" fmla="*/ 44 w 67"/>
                <a:gd name="T3" fmla="*/ 66 h 67"/>
                <a:gd name="T4" fmla="*/ 49 w 67"/>
                <a:gd name="T5" fmla="*/ 62 h 67"/>
                <a:gd name="T6" fmla="*/ 53 w 67"/>
                <a:gd name="T7" fmla="*/ 62 h 67"/>
                <a:gd name="T8" fmla="*/ 62 w 67"/>
                <a:gd name="T9" fmla="*/ 57 h 67"/>
                <a:gd name="T10" fmla="*/ 62 w 67"/>
                <a:gd name="T11" fmla="*/ 49 h 67"/>
                <a:gd name="T12" fmla="*/ 66 w 67"/>
                <a:gd name="T13" fmla="*/ 44 h 67"/>
                <a:gd name="T14" fmla="*/ 66 w 67"/>
                <a:gd name="T15" fmla="*/ 40 h 67"/>
                <a:gd name="T16" fmla="*/ 66 w 67"/>
                <a:gd name="T17" fmla="*/ 35 h 67"/>
                <a:gd name="T18" fmla="*/ 66 w 67"/>
                <a:gd name="T19" fmla="*/ 26 h 67"/>
                <a:gd name="T20" fmla="*/ 66 w 67"/>
                <a:gd name="T21" fmla="*/ 22 h 67"/>
                <a:gd name="T22" fmla="*/ 62 w 67"/>
                <a:gd name="T23" fmla="*/ 13 h 67"/>
                <a:gd name="T24" fmla="*/ 57 w 67"/>
                <a:gd name="T25" fmla="*/ 9 h 67"/>
                <a:gd name="T26" fmla="*/ 53 w 67"/>
                <a:gd name="T27" fmla="*/ 4 h 67"/>
                <a:gd name="T28" fmla="*/ 44 w 67"/>
                <a:gd name="T29" fmla="*/ 4 h 67"/>
                <a:gd name="T30" fmla="*/ 40 w 67"/>
                <a:gd name="T31" fmla="*/ 4 h 67"/>
                <a:gd name="T32" fmla="*/ 31 w 67"/>
                <a:gd name="T33" fmla="*/ 0 h 67"/>
                <a:gd name="T34" fmla="*/ 22 w 67"/>
                <a:gd name="T35" fmla="*/ 4 h 67"/>
                <a:gd name="T36" fmla="*/ 18 w 67"/>
                <a:gd name="T37" fmla="*/ 4 h 67"/>
                <a:gd name="T38" fmla="*/ 13 w 67"/>
                <a:gd name="T39" fmla="*/ 4 h 67"/>
                <a:gd name="T40" fmla="*/ 9 w 67"/>
                <a:gd name="T41" fmla="*/ 9 h 67"/>
                <a:gd name="T42" fmla="*/ 4 w 67"/>
                <a:gd name="T43" fmla="*/ 13 h 67"/>
                <a:gd name="T44" fmla="*/ 0 w 67"/>
                <a:gd name="T45" fmla="*/ 22 h 67"/>
                <a:gd name="T46" fmla="*/ 0 w 67"/>
                <a:gd name="T47" fmla="*/ 26 h 67"/>
                <a:gd name="T48" fmla="*/ 0 w 67"/>
                <a:gd name="T49" fmla="*/ 35 h 67"/>
                <a:gd name="T50" fmla="*/ 0 w 67"/>
                <a:gd name="T51" fmla="*/ 40 h 67"/>
                <a:gd name="T52" fmla="*/ 0 w 67"/>
                <a:gd name="T53" fmla="*/ 44 h 67"/>
                <a:gd name="T54" fmla="*/ 4 w 67"/>
                <a:gd name="T55" fmla="*/ 49 h 67"/>
                <a:gd name="T56" fmla="*/ 9 w 67"/>
                <a:gd name="T57" fmla="*/ 57 h 67"/>
                <a:gd name="T58" fmla="*/ 13 w 67"/>
                <a:gd name="T59" fmla="*/ 62 h 67"/>
                <a:gd name="T60" fmla="*/ 22 w 67"/>
                <a:gd name="T61" fmla="*/ 62 h 67"/>
                <a:gd name="T62" fmla="*/ 26 w 67"/>
                <a:gd name="T63" fmla="*/ 66 h 67"/>
                <a:gd name="T64" fmla="*/ 35 w 67"/>
                <a:gd name="T65" fmla="*/ 66 h 67"/>
                <a:gd name="T66" fmla="*/ 35 w 67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4"/>
                  </a:lnTo>
                  <a:lnTo>
                    <a:pt x="66" y="40"/>
                  </a:lnTo>
                  <a:lnTo>
                    <a:pt x="66" y="35"/>
                  </a:lnTo>
                  <a:lnTo>
                    <a:pt x="66" y="26"/>
                  </a:lnTo>
                  <a:lnTo>
                    <a:pt x="66" y="22"/>
                  </a:lnTo>
                  <a:lnTo>
                    <a:pt x="62" y="13"/>
                  </a:lnTo>
                  <a:lnTo>
                    <a:pt x="57" y="9"/>
                  </a:lnTo>
                  <a:lnTo>
                    <a:pt x="53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1" y="0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3" y="4"/>
                  </a:lnTo>
                  <a:lnTo>
                    <a:pt x="9" y="9"/>
                  </a:lnTo>
                  <a:lnTo>
                    <a:pt x="4" y="13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DF4D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3" name="Freeform 220"/>
            <p:cNvSpPr>
              <a:spLocks noChangeArrowheads="1"/>
            </p:cNvSpPr>
            <p:nvPr/>
          </p:nvSpPr>
          <p:spPr bwMode="auto">
            <a:xfrm>
              <a:off x="3955" y="1944"/>
              <a:ext cx="16" cy="14"/>
            </a:xfrm>
            <a:custGeom>
              <a:avLst/>
              <a:gdLst>
                <a:gd name="T0" fmla="*/ 34 w 71"/>
                <a:gd name="T1" fmla="*/ 62 h 63"/>
                <a:gd name="T2" fmla="*/ 43 w 71"/>
                <a:gd name="T3" fmla="*/ 62 h 63"/>
                <a:gd name="T4" fmla="*/ 48 w 71"/>
                <a:gd name="T5" fmla="*/ 57 h 63"/>
                <a:gd name="T6" fmla="*/ 56 w 71"/>
                <a:gd name="T7" fmla="*/ 57 h 63"/>
                <a:gd name="T8" fmla="*/ 61 w 71"/>
                <a:gd name="T9" fmla="*/ 53 h 63"/>
                <a:gd name="T10" fmla="*/ 65 w 71"/>
                <a:gd name="T11" fmla="*/ 49 h 63"/>
                <a:gd name="T12" fmla="*/ 65 w 71"/>
                <a:gd name="T13" fmla="*/ 40 h 63"/>
                <a:gd name="T14" fmla="*/ 70 w 71"/>
                <a:gd name="T15" fmla="*/ 35 h 63"/>
                <a:gd name="T16" fmla="*/ 70 w 71"/>
                <a:gd name="T17" fmla="*/ 31 h 63"/>
                <a:gd name="T18" fmla="*/ 70 w 71"/>
                <a:gd name="T19" fmla="*/ 22 h 63"/>
                <a:gd name="T20" fmla="*/ 65 w 71"/>
                <a:gd name="T21" fmla="*/ 18 h 63"/>
                <a:gd name="T22" fmla="*/ 65 w 71"/>
                <a:gd name="T23" fmla="*/ 13 h 63"/>
                <a:gd name="T24" fmla="*/ 61 w 71"/>
                <a:gd name="T25" fmla="*/ 4 h 63"/>
                <a:gd name="T26" fmla="*/ 56 w 71"/>
                <a:gd name="T27" fmla="*/ 4 h 63"/>
                <a:gd name="T28" fmla="*/ 48 w 71"/>
                <a:gd name="T29" fmla="*/ 0 h 63"/>
                <a:gd name="T30" fmla="*/ 43 w 71"/>
                <a:gd name="T31" fmla="*/ 0 h 63"/>
                <a:gd name="T32" fmla="*/ 34 w 71"/>
                <a:gd name="T33" fmla="*/ 0 h 63"/>
                <a:gd name="T34" fmla="*/ 25 w 71"/>
                <a:gd name="T35" fmla="*/ 0 h 63"/>
                <a:gd name="T36" fmla="*/ 21 w 71"/>
                <a:gd name="T37" fmla="*/ 0 h 63"/>
                <a:gd name="T38" fmla="*/ 17 w 71"/>
                <a:gd name="T39" fmla="*/ 4 h 63"/>
                <a:gd name="T40" fmla="*/ 8 w 71"/>
                <a:gd name="T41" fmla="*/ 4 h 63"/>
                <a:gd name="T42" fmla="*/ 3 w 71"/>
                <a:gd name="T43" fmla="*/ 13 h 63"/>
                <a:gd name="T44" fmla="*/ 3 w 71"/>
                <a:gd name="T45" fmla="*/ 18 h 63"/>
                <a:gd name="T46" fmla="*/ 0 w 71"/>
                <a:gd name="T47" fmla="*/ 22 h 63"/>
                <a:gd name="T48" fmla="*/ 0 w 71"/>
                <a:gd name="T49" fmla="*/ 31 h 63"/>
                <a:gd name="T50" fmla="*/ 0 w 71"/>
                <a:gd name="T51" fmla="*/ 35 h 63"/>
                <a:gd name="T52" fmla="*/ 3 w 71"/>
                <a:gd name="T53" fmla="*/ 44 h 63"/>
                <a:gd name="T54" fmla="*/ 3 w 71"/>
                <a:gd name="T55" fmla="*/ 49 h 63"/>
                <a:gd name="T56" fmla="*/ 8 w 71"/>
                <a:gd name="T57" fmla="*/ 53 h 63"/>
                <a:gd name="T58" fmla="*/ 12 w 71"/>
                <a:gd name="T59" fmla="*/ 57 h 63"/>
                <a:gd name="T60" fmla="*/ 21 w 71"/>
                <a:gd name="T61" fmla="*/ 62 h 63"/>
                <a:gd name="T62" fmla="*/ 25 w 71"/>
                <a:gd name="T63" fmla="*/ 62 h 63"/>
                <a:gd name="T64" fmla="*/ 34 w 71"/>
                <a:gd name="T65" fmla="*/ 62 h 63"/>
                <a:gd name="T66" fmla="*/ 34 w 71"/>
                <a:gd name="T67" fmla="*/ 6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63">
                  <a:moveTo>
                    <a:pt x="34" y="62"/>
                  </a:moveTo>
                  <a:lnTo>
                    <a:pt x="43" y="62"/>
                  </a:lnTo>
                  <a:lnTo>
                    <a:pt x="48" y="57"/>
                  </a:lnTo>
                  <a:lnTo>
                    <a:pt x="56" y="57"/>
                  </a:lnTo>
                  <a:lnTo>
                    <a:pt x="61" y="53"/>
                  </a:lnTo>
                  <a:lnTo>
                    <a:pt x="65" y="49"/>
                  </a:lnTo>
                  <a:lnTo>
                    <a:pt x="65" y="40"/>
                  </a:lnTo>
                  <a:lnTo>
                    <a:pt x="70" y="35"/>
                  </a:lnTo>
                  <a:lnTo>
                    <a:pt x="70" y="31"/>
                  </a:lnTo>
                  <a:lnTo>
                    <a:pt x="70" y="22"/>
                  </a:lnTo>
                  <a:lnTo>
                    <a:pt x="65" y="18"/>
                  </a:lnTo>
                  <a:lnTo>
                    <a:pt x="65" y="13"/>
                  </a:lnTo>
                  <a:lnTo>
                    <a:pt x="61" y="4"/>
                  </a:lnTo>
                  <a:lnTo>
                    <a:pt x="56" y="4"/>
                  </a:lnTo>
                  <a:lnTo>
                    <a:pt x="48" y="0"/>
                  </a:lnTo>
                  <a:lnTo>
                    <a:pt x="43" y="0"/>
                  </a:lnTo>
                  <a:lnTo>
                    <a:pt x="34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7" y="4"/>
                  </a:lnTo>
                  <a:lnTo>
                    <a:pt x="8" y="4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0" y="22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8" y="53"/>
                  </a:lnTo>
                  <a:lnTo>
                    <a:pt x="12" y="57"/>
                  </a:lnTo>
                  <a:lnTo>
                    <a:pt x="21" y="62"/>
                  </a:lnTo>
                  <a:lnTo>
                    <a:pt x="25" y="62"/>
                  </a:lnTo>
                  <a:lnTo>
                    <a:pt x="34" y="62"/>
                  </a:lnTo>
                  <a:lnTo>
                    <a:pt x="34" y="6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4" name="Freeform 221"/>
            <p:cNvSpPr>
              <a:spLocks noChangeArrowheads="1"/>
            </p:cNvSpPr>
            <p:nvPr/>
          </p:nvSpPr>
          <p:spPr bwMode="auto">
            <a:xfrm>
              <a:off x="3956" y="1965"/>
              <a:ext cx="16" cy="15"/>
            </a:xfrm>
            <a:custGeom>
              <a:avLst/>
              <a:gdLst>
                <a:gd name="T0" fmla="*/ 35 w 72"/>
                <a:gd name="T1" fmla="*/ 66 h 67"/>
                <a:gd name="T2" fmla="*/ 44 w 72"/>
                <a:gd name="T3" fmla="*/ 66 h 67"/>
                <a:gd name="T4" fmla="*/ 49 w 72"/>
                <a:gd name="T5" fmla="*/ 62 h 67"/>
                <a:gd name="T6" fmla="*/ 53 w 72"/>
                <a:gd name="T7" fmla="*/ 62 h 67"/>
                <a:gd name="T8" fmla="*/ 62 w 72"/>
                <a:gd name="T9" fmla="*/ 57 h 67"/>
                <a:gd name="T10" fmla="*/ 62 w 72"/>
                <a:gd name="T11" fmla="*/ 49 h 67"/>
                <a:gd name="T12" fmla="*/ 66 w 72"/>
                <a:gd name="T13" fmla="*/ 49 h 67"/>
                <a:gd name="T14" fmla="*/ 71 w 72"/>
                <a:gd name="T15" fmla="*/ 40 h 67"/>
                <a:gd name="T16" fmla="*/ 71 w 72"/>
                <a:gd name="T17" fmla="*/ 35 h 67"/>
                <a:gd name="T18" fmla="*/ 71 w 72"/>
                <a:gd name="T19" fmla="*/ 26 h 67"/>
                <a:gd name="T20" fmla="*/ 66 w 72"/>
                <a:gd name="T21" fmla="*/ 22 h 67"/>
                <a:gd name="T22" fmla="*/ 66 w 72"/>
                <a:gd name="T23" fmla="*/ 13 h 67"/>
                <a:gd name="T24" fmla="*/ 62 w 72"/>
                <a:gd name="T25" fmla="*/ 13 h 67"/>
                <a:gd name="T26" fmla="*/ 53 w 72"/>
                <a:gd name="T27" fmla="*/ 9 h 67"/>
                <a:gd name="T28" fmla="*/ 49 w 72"/>
                <a:gd name="T29" fmla="*/ 4 h 67"/>
                <a:gd name="T30" fmla="*/ 44 w 72"/>
                <a:gd name="T31" fmla="*/ 0 h 67"/>
                <a:gd name="T32" fmla="*/ 35 w 72"/>
                <a:gd name="T33" fmla="*/ 0 h 67"/>
                <a:gd name="T34" fmla="*/ 31 w 72"/>
                <a:gd name="T35" fmla="*/ 4 h 67"/>
                <a:gd name="T36" fmla="*/ 22 w 72"/>
                <a:gd name="T37" fmla="*/ 4 h 67"/>
                <a:gd name="T38" fmla="*/ 18 w 72"/>
                <a:gd name="T39" fmla="*/ 9 h 67"/>
                <a:gd name="T40" fmla="*/ 9 w 72"/>
                <a:gd name="T41" fmla="*/ 13 h 67"/>
                <a:gd name="T42" fmla="*/ 4 w 72"/>
                <a:gd name="T43" fmla="*/ 13 h 67"/>
                <a:gd name="T44" fmla="*/ 4 w 72"/>
                <a:gd name="T45" fmla="*/ 22 h 67"/>
                <a:gd name="T46" fmla="*/ 0 w 72"/>
                <a:gd name="T47" fmla="*/ 26 h 67"/>
                <a:gd name="T48" fmla="*/ 0 w 72"/>
                <a:gd name="T49" fmla="*/ 35 h 67"/>
                <a:gd name="T50" fmla="*/ 0 w 72"/>
                <a:gd name="T51" fmla="*/ 40 h 67"/>
                <a:gd name="T52" fmla="*/ 0 w 72"/>
                <a:gd name="T53" fmla="*/ 49 h 67"/>
                <a:gd name="T54" fmla="*/ 4 w 72"/>
                <a:gd name="T55" fmla="*/ 49 h 67"/>
                <a:gd name="T56" fmla="*/ 9 w 72"/>
                <a:gd name="T57" fmla="*/ 57 h 67"/>
                <a:gd name="T58" fmla="*/ 13 w 72"/>
                <a:gd name="T59" fmla="*/ 62 h 67"/>
                <a:gd name="T60" fmla="*/ 22 w 72"/>
                <a:gd name="T61" fmla="*/ 62 h 67"/>
                <a:gd name="T62" fmla="*/ 26 w 72"/>
                <a:gd name="T63" fmla="*/ 66 h 67"/>
                <a:gd name="T64" fmla="*/ 35 w 72"/>
                <a:gd name="T65" fmla="*/ 66 h 67"/>
                <a:gd name="T66" fmla="*/ 35 w 72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2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9"/>
                  </a:lnTo>
                  <a:lnTo>
                    <a:pt x="71" y="40"/>
                  </a:lnTo>
                  <a:lnTo>
                    <a:pt x="71" y="35"/>
                  </a:lnTo>
                  <a:lnTo>
                    <a:pt x="71" y="26"/>
                  </a:lnTo>
                  <a:lnTo>
                    <a:pt x="66" y="22"/>
                  </a:lnTo>
                  <a:lnTo>
                    <a:pt x="66" y="13"/>
                  </a:lnTo>
                  <a:lnTo>
                    <a:pt x="62" y="13"/>
                  </a:lnTo>
                  <a:lnTo>
                    <a:pt x="53" y="9"/>
                  </a:lnTo>
                  <a:lnTo>
                    <a:pt x="49" y="4"/>
                  </a:lnTo>
                  <a:lnTo>
                    <a:pt x="44" y="0"/>
                  </a:lnTo>
                  <a:lnTo>
                    <a:pt x="35" y="0"/>
                  </a:lnTo>
                  <a:lnTo>
                    <a:pt x="31" y="4"/>
                  </a:lnTo>
                  <a:lnTo>
                    <a:pt x="22" y="4"/>
                  </a:lnTo>
                  <a:lnTo>
                    <a:pt x="18" y="9"/>
                  </a:lnTo>
                  <a:lnTo>
                    <a:pt x="9" y="13"/>
                  </a:lnTo>
                  <a:lnTo>
                    <a:pt x="4" y="13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9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FFE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5" name="Freeform 222"/>
            <p:cNvSpPr>
              <a:spLocks noChangeArrowheads="1"/>
            </p:cNvSpPr>
            <p:nvPr/>
          </p:nvSpPr>
          <p:spPr bwMode="auto">
            <a:xfrm>
              <a:off x="3843" y="1663"/>
              <a:ext cx="84" cy="383"/>
            </a:xfrm>
            <a:custGeom>
              <a:avLst/>
              <a:gdLst>
                <a:gd name="T0" fmla="*/ 0 w 371"/>
                <a:gd name="T1" fmla="*/ 1685 h 1690"/>
                <a:gd name="T2" fmla="*/ 190 w 371"/>
                <a:gd name="T3" fmla="*/ 115 h 1690"/>
                <a:gd name="T4" fmla="*/ 370 w 371"/>
                <a:gd name="T5" fmla="*/ 0 h 1690"/>
                <a:gd name="T6" fmla="*/ 88 w 371"/>
                <a:gd name="T7" fmla="*/ 1689 h 1690"/>
                <a:gd name="T8" fmla="*/ 0 w 371"/>
                <a:gd name="T9" fmla="*/ 1685 h 1690"/>
                <a:gd name="T10" fmla="*/ 0 w 371"/>
                <a:gd name="T11" fmla="*/ 1685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1690">
                  <a:moveTo>
                    <a:pt x="0" y="1685"/>
                  </a:moveTo>
                  <a:lnTo>
                    <a:pt x="190" y="115"/>
                  </a:lnTo>
                  <a:lnTo>
                    <a:pt x="370" y="0"/>
                  </a:lnTo>
                  <a:lnTo>
                    <a:pt x="88" y="1689"/>
                  </a:lnTo>
                  <a:lnTo>
                    <a:pt x="0" y="1685"/>
                  </a:lnTo>
                  <a:lnTo>
                    <a:pt x="0" y="16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6" name="Freeform 223"/>
            <p:cNvSpPr>
              <a:spLocks noChangeArrowheads="1"/>
            </p:cNvSpPr>
            <p:nvPr/>
          </p:nvSpPr>
          <p:spPr bwMode="auto">
            <a:xfrm>
              <a:off x="3892" y="1674"/>
              <a:ext cx="62" cy="48"/>
            </a:xfrm>
            <a:custGeom>
              <a:avLst/>
              <a:gdLst>
                <a:gd name="T0" fmla="*/ 273 w 274"/>
                <a:gd name="T1" fmla="*/ 0 h 212"/>
                <a:gd name="T2" fmla="*/ 273 w 274"/>
                <a:gd name="T3" fmla="*/ 87 h 212"/>
                <a:gd name="T4" fmla="*/ 0 w 274"/>
                <a:gd name="T5" fmla="*/ 211 h 212"/>
                <a:gd name="T6" fmla="*/ 4 w 274"/>
                <a:gd name="T7" fmla="*/ 153 h 212"/>
                <a:gd name="T8" fmla="*/ 273 w 274"/>
                <a:gd name="T9" fmla="*/ 0 h 212"/>
                <a:gd name="T10" fmla="*/ 273 w 274"/>
                <a:gd name="T11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12">
                  <a:moveTo>
                    <a:pt x="273" y="0"/>
                  </a:moveTo>
                  <a:lnTo>
                    <a:pt x="273" y="87"/>
                  </a:lnTo>
                  <a:lnTo>
                    <a:pt x="0" y="211"/>
                  </a:lnTo>
                  <a:lnTo>
                    <a:pt x="4" y="153"/>
                  </a:lnTo>
                  <a:lnTo>
                    <a:pt x="273" y="0"/>
                  </a:lnTo>
                  <a:lnTo>
                    <a:pt x="273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07" name="Line 224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08" name="Line 225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09" name="Line 226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10" name="Line 227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11" name="Freeform 228"/>
            <p:cNvSpPr>
              <a:spLocks noChangeArrowheads="1"/>
            </p:cNvSpPr>
            <p:nvPr/>
          </p:nvSpPr>
          <p:spPr bwMode="auto">
            <a:xfrm>
              <a:off x="3892" y="1722"/>
              <a:ext cx="67" cy="42"/>
            </a:xfrm>
            <a:custGeom>
              <a:avLst/>
              <a:gdLst>
                <a:gd name="T0" fmla="*/ 291 w 296"/>
                <a:gd name="T1" fmla="*/ 0 h 186"/>
                <a:gd name="T2" fmla="*/ 295 w 296"/>
                <a:gd name="T3" fmla="*/ 93 h 186"/>
                <a:gd name="T4" fmla="*/ 0 w 296"/>
                <a:gd name="T5" fmla="*/ 185 h 186"/>
                <a:gd name="T6" fmla="*/ 0 w 296"/>
                <a:gd name="T7" fmla="*/ 119 h 186"/>
                <a:gd name="T8" fmla="*/ 291 w 296"/>
                <a:gd name="T9" fmla="*/ 0 h 186"/>
                <a:gd name="T10" fmla="*/ 291 w 296"/>
                <a:gd name="T11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86">
                  <a:moveTo>
                    <a:pt x="291" y="0"/>
                  </a:moveTo>
                  <a:lnTo>
                    <a:pt x="295" y="93"/>
                  </a:lnTo>
                  <a:lnTo>
                    <a:pt x="0" y="185"/>
                  </a:lnTo>
                  <a:lnTo>
                    <a:pt x="0" y="119"/>
                  </a:lnTo>
                  <a:lnTo>
                    <a:pt x="291" y="0"/>
                  </a:lnTo>
                  <a:lnTo>
                    <a:pt x="29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</p:grpSp>
      <p:sp>
        <p:nvSpPr>
          <p:cNvPr id="172" name="Line 14"/>
          <p:cNvSpPr>
            <a:spLocks noChangeShapeType="1"/>
          </p:cNvSpPr>
          <p:nvPr/>
        </p:nvSpPr>
        <p:spPr bwMode="auto">
          <a:xfrm flipH="1" flipV="1">
            <a:off x="7619619" y="2317750"/>
            <a:ext cx="778385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340" name="Group 212"/>
          <p:cNvGrpSpPr>
            <a:grpSpLocks/>
          </p:cNvGrpSpPr>
          <p:nvPr/>
        </p:nvGrpSpPr>
        <p:grpSpPr bwMode="auto">
          <a:xfrm>
            <a:off x="8217824" y="2358231"/>
            <a:ext cx="581025" cy="741363"/>
            <a:chOff x="3815" y="1609"/>
            <a:chExt cx="366" cy="467"/>
          </a:xfrm>
        </p:grpSpPr>
        <p:sp>
          <p:nvSpPr>
            <p:cNvPr id="341" name="Freeform 213"/>
            <p:cNvSpPr>
              <a:spLocks noChangeArrowheads="1"/>
            </p:cNvSpPr>
            <p:nvPr/>
          </p:nvSpPr>
          <p:spPr bwMode="auto">
            <a:xfrm>
              <a:off x="3815" y="1609"/>
              <a:ext cx="367" cy="468"/>
            </a:xfrm>
            <a:custGeom>
              <a:avLst/>
              <a:gdLst>
                <a:gd name="T0" fmla="*/ 0 w 1620"/>
                <a:gd name="T1" fmla="*/ 2033 h 2065"/>
                <a:gd name="T2" fmla="*/ 220 w 1620"/>
                <a:gd name="T3" fmla="*/ 282 h 2065"/>
                <a:gd name="T4" fmla="*/ 670 w 1620"/>
                <a:gd name="T5" fmla="*/ 0 h 2065"/>
                <a:gd name="T6" fmla="*/ 1253 w 1620"/>
                <a:gd name="T7" fmla="*/ 419 h 2065"/>
                <a:gd name="T8" fmla="*/ 1619 w 1620"/>
                <a:gd name="T9" fmla="*/ 2064 h 2065"/>
                <a:gd name="T10" fmla="*/ 1143 w 1620"/>
                <a:gd name="T11" fmla="*/ 2055 h 2065"/>
                <a:gd name="T12" fmla="*/ 0 w 1620"/>
                <a:gd name="T13" fmla="*/ 2033 h 2065"/>
                <a:gd name="T14" fmla="*/ 0 w 1620"/>
                <a:gd name="T15" fmla="*/ 2033 h 2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0" h="2065">
                  <a:moveTo>
                    <a:pt x="0" y="2033"/>
                  </a:moveTo>
                  <a:lnTo>
                    <a:pt x="220" y="282"/>
                  </a:lnTo>
                  <a:lnTo>
                    <a:pt x="670" y="0"/>
                  </a:lnTo>
                  <a:lnTo>
                    <a:pt x="1253" y="419"/>
                  </a:lnTo>
                  <a:lnTo>
                    <a:pt x="1619" y="2064"/>
                  </a:lnTo>
                  <a:lnTo>
                    <a:pt x="1143" y="2055"/>
                  </a:lnTo>
                  <a:lnTo>
                    <a:pt x="0" y="2033"/>
                  </a:lnTo>
                  <a:lnTo>
                    <a:pt x="0" y="203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2" name="Freeform 214"/>
            <p:cNvSpPr>
              <a:spLocks noChangeArrowheads="1"/>
            </p:cNvSpPr>
            <p:nvPr/>
          </p:nvSpPr>
          <p:spPr bwMode="auto">
            <a:xfrm>
              <a:off x="3828" y="1623"/>
              <a:ext cx="338" cy="441"/>
            </a:xfrm>
            <a:custGeom>
              <a:avLst/>
              <a:gdLst>
                <a:gd name="T0" fmla="*/ 0 w 1492"/>
                <a:gd name="T1" fmla="*/ 1918 h 1946"/>
                <a:gd name="T2" fmla="*/ 207 w 1492"/>
                <a:gd name="T3" fmla="*/ 260 h 1946"/>
                <a:gd name="T4" fmla="*/ 617 w 1492"/>
                <a:gd name="T5" fmla="*/ 0 h 1946"/>
                <a:gd name="T6" fmla="*/ 1170 w 1492"/>
                <a:gd name="T7" fmla="*/ 392 h 1946"/>
                <a:gd name="T8" fmla="*/ 1491 w 1492"/>
                <a:gd name="T9" fmla="*/ 1945 h 1946"/>
                <a:gd name="T10" fmla="*/ 0 w 1492"/>
                <a:gd name="T11" fmla="*/ 1918 h 1946"/>
                <a:gd name="T12" fmla="*/ 0 w 1492"/>
                <a:gd name="T13" fmla="*/ 1918 h 1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92" h="1946">
                  <a:moveTo>
                    <a:pt x="0" y="1918"/>
                  </a:moveTo>
                  <a:lnTo>
                    <a:pt x="207" y="260"/>
                  </a:lnTo>
                  <a:lnTo>
                    <a:pt x="617" y="0"/>
                  </a:lnTo>
                  <a:lnTo>
                    <a:pt x="1170" y="392"/>
                  </a:lnTo>
                  <a:lnTo>
                    <a:pt x="1491" y="1945"/>
                  </a:lnTo>
                  <a:lnTo>
                    <a:pt x="0" y="1918"/>
                  </a:lnTo>
                  <a:lnTo>
                    <a:pt x="0" y="191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3" name="Freeform 215"/>
            <p:cNvSpPr>
              <a:spLocks noChangeArrowheads="1"/>
            </p:cNvSpPr>
            <p:nvPr/>
          </p:nvSpPr>
          <p:spPr bwMode="auto">
            <a:xfrm>
              <a:off x="3843" y="1641"/>
              <a:ext cx="151" cy="404"/>
            </a:xfrm>
            <a:custGeom>
              <a:avLst/>
              <a:gdLst>
                <a:gd name="T0" fmla="*/ 0 w 667"/>
                <a:gd name="T1" fmla="*/ 1782 h 1783"/>
                <a:gd name="T2" fmla="*/ 666 w 667"/>
                <a:gd name="T3" fmla="*/ 1782 h 1783"/>
                <a:gd name="T4" fmla="*/ 534 w 667"/>
                <a:gd name="T5" fmla="*/ 0 h 1783"/>
                <a:gd name="T6" fmla="*/ 185 w 667"/>
                <a:gd name="T7" fmla="*/ 212 h 1783"/>
                <a:gd name="T8" fmla="*/ 0 w 667"/>
                <a:gd name="T9" fmla="*/ 1782 h 1783"/>
                <a:gd name="T10" fmla="*/ 0 w 667"/>
                <a:gd name="T11" fmla="*/ 1782 h 1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7" h="1783">
                  <a:moveTo>
                    <a:pt x="0" y="1782"/>
                  </a:moveTo>
                  <a:lnTo>
                    <a:pt x="666" y="1782"/>
                  </a:lnTo>
                  <a:lnTo>
                    <a:pt x="534" y="0"/>
                  </a:lnTo>
                  <a:lnTo>
                    <a:pt x="185" y="212"/>
                  </a:lnTo>
                  <a:lnTo>
                    <a:pt x="0" y="1782"/>
                  </a:lnTo>
                  <a:lnTo>
                    <a:pt x="0" y="1782"/>
                  </a:lnTo>
                </a:path>
              </a:pathLst>
            </a:custGeom>
            <a:solidFill>
              <a:srgbClr val="407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4" name="Freeform 216"/>
            <p:cNvSpPr>
              <a:spLocks noChangeArrowheads="1"/>
            </p:cNvSpPr>
            <p:nvPr/>
          </p:nvSpPr>
          <p:spPr bwMode="auto">
            <a:xfrm>
              <a:off x="3976" y="1643"/>
              <a:ext cx="174" cy="407"/>
            </a:xfrm>
            <a:custGeom>
              <a:avLst/>
              <a:gdLst>
                <a:gd name="T0" fmla="*/ 477 w 769"/>
                <a:gd name="T1" fmla="*/ 335 h 1796"/>
                <a:gd name="T2" fmla="*/ 768 w 769"/>
                <a:gd name="T3" fmla="*/ 1795 h 1796"/>
                <a:gd name="T4" fmla="*/ 160 w 769"/>
                <a:gd name="T5" fmla="*/ 1786 h 1796"/>
                <a:gd name="T6" fmla="*/ 0 w 769"/>
                <a:gd name="T7" fmla="*/ 0 h 1796"/>
                <a:gd name="T8" fmla="*/ 477 w 769"/>
                <a:gd name="T9" fmla="*/ 335 h 1796"/>
                <a:gd name="T10" fmla="*/ 477 w 769"/>
                <a:gd name="T11" fmla="*/ 335 h 1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9" h="1796">
                  <a:moveTo>
                    <a:pt x="477" y="335"/>
                  </a:moveTo>
                  <a:lnTo>
                    <a:pt x="768" y="1795"/>
                  </a:lnTo>
                  <a:lnTo>
                    <a:pt x="160" y="1786"/>
                  </a:lnTo>
                  <a:lnTo>
                    <a:pt x="0" y="0"/>
                  </a:lnTo>
                  <a:lnTo>
                    <a:pt x="477" y="335"/>
                  </a:lnTo>
                  <a:lnTo>
                    <a:pt x="477" y="335"/>
                  </a:lnTo>
                </a:path>
              </a:pathLst>
            </a:custGeom>
            <a:solidFill>
              <a:srgbClr val="0038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5" name="Line 217"/>
            <p:cNvSpPr>
              <a:spLocks noChangeShapeType="1"/>
            </p:cNvSpPr>
            <p:nvPr/>
          </p:nvSpPr>
          <p:spPr bwMode="auto">
            <a:xfrm flipH="1" flipV="1">
              <a:off x="4057" y="1716"/>
              <a:ext cx="53" cy="32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46" name="Freeform 218"/>
            <p:cNvSpPr>
              <a:spLocks noChangeArrowheads="1"/>
            </p:cNvSpPr>
            <p:nvPr/>
          </p:nvSpPr>
          <p:spPr bwMode="auto">
            <a:xfrm>
              <a:off x="4053" y="1698"/>
              <a:ext cx="60" cy="351"/>
            </a:xfrm>
            <a:custGeom>
              <a:avLst/>
              <a:gdLst>
                <a:gd name="T0" fmla="*/ 247 w 266"/>
                <a:gd name="T1" fmla="*/ 1547 h 1548"/>
                <a:gd name="T2" fmla="*/ 265 w 266"/>
                <a:gd name="T3" fmla="*/ 1547 h 1548"/>
                <a:gd name="T4" fmla="*/ 18 w 266"/>
                <a:gd name="T5" fmla="*/ 0 h 1548"/>
                <a:gd name="T6" fmla="*/ 0 w 266"/>
                <a:gd name="T7" fmla="*/ 0 h 1548"/>
                <a:gd name="T8" fmla="*/ 247 w 266"/>
                <a:gd name="T9" fmla="*/ 1547 h 1548"/>
                <a:gd name="T10" fmla="*/ 247 w 266"/>
                <a:gd name="T11" fmla="*/ 154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6" h="1548">
                  <a:moveTo>
                    <a:pt x="247" y="1547"/>
                  </a:moveTo>
                  <a:lnTo>
                    <a:pt x="265" y="154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247" y="1547"/>
                  </a:lnTo>
                  <a:lnTo>
                    <a:pt x="247" y="154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7" name="Freeform 219"/>
            <p:cNvSpPr>
              <a:spLocks noChangeArrowheads="1"/>
            </p:cNvSpPr>
            <p:nvPr/>
          </p:nvSpPr>
          <p:spPr bwMode="auto">
            <a:xfrm>
              <a:off x="3954" y="1919"/>
              <a:ext cx="15" cy="15"/>
            </a:xfrm>
            <a:custGeom>
              <a:avLst/>
              <a:gdLst>
                <a:gd name="T0" fmla="*/ 35 w 67"/>
                <a:gd name="T1" fmla="*/ 66 h 67"/>
                <a:gd name="T2" fmla="*/ 44 w 67"/>
                <a:gd name="T3" fmla="*/ 66 h 67"/>
                <a:gd name="T4" fmla="*/ 49 w 67"/>
                <a:gd name="T5" fmla="*/ 62 h 67"/>
                <a:gd name="T6" fmla="*/ 53 w 67"/>
                <a:gd name="T7" fmla="*/ 62 h 67"/>
                <a:gd name="T8" fmla="*/ 62 w 67"/>
                <a:gd name="T9" fmla="*/ 57 h 67"/>
                <a:gd name="T10" fmla="*/ 62 w 67"/>
                <a:gd name="T11" fmla="*/ 49 h 67"/>
                <a:gd name="T12" fmla="*/ 66 w 67"/>
                <a:gd name="T13" fmla="*/ 44 h 67"/>
                <a:gd name="T14" fmla="*/ 66 w 67"/>
                <a:gd name="T15" fmla="*/ 40 h 67"/>
                <a:gd name="T16" fmla="*/ 66 w 67"/>
                <a:gd name="T17" fmla="*/ 35 h 67"/>
                <a:gd name="T18" fmla="*/ 66 w 67"/>
                <a:gd name="T19" fmla="*/ 26 h 67"/>
                <a:gd name="T20" fmla="*/ 66 w 67"/>
                <a:gd name="T21" fmla="*/ 22 h 67"/>
                <a:gd name="T22" fmla="*/ 62 w 67"/>
                <a:gd name="T23" fmla="*/ 13 h 67"/>
                <a:gd name="T24" fmla="*/ 57 w 67"/>
                <a:gd name="T25" fmla="*/ 9 h 67"/>
                <a:gd name="T26" fmla="*/ 53 w 67"/>
                <a:gd name="T27" fmla="*/ 4 h 67"/>
                <a:gd name="T28" fmla="*/ 44 w 67"/>
                <a:gd name="T29" fmla="*/ 4 h 67"/>
                <a:gd name="T30" fmla="*/ 40 w 67"/>
                <a:gd name="T31" fmla="*/ 4 h 67"/>
                <a:gd name="T32" fmla="*/ 31 w 67"/>
                <a:gd name="T33" fmla="*/ 0 h 67"/>
                <a:gd name="T34" fmla="*/ 22 w 67"/>
                <a:gd name="T35" fmla="*/ 4 h 67"/>
                <a:gd name="T36" fmla="*/ 18 w 67"/>
                <a:gd name="T37" fmla="*/ 4 h 67"/>
                <a:gd name="T38" fmla="*/ 13 w 67"/>
                <a:gd name="T39" fmla="*/ 4 h 67"/>
                <a:gd name="T40" fmla="*/ 9 w 67"/>
                <a:gd name="T41" fmla="*/ 9 h 67"/>
                <a:gd name="T42" fmla="*/ 4 w 67"/>
                <a:gd name="T43" fmla="*/ 13 h 67"/>
                <a:gd name="T44" fmla="*/ 0 w 67"/>
                <a:gd name="T45" fmla="*/ 22 h 67"/>
                <a:gd name="T46" fmla="*/ 0 w 67"/>
                <a:gd name="T47" fmla="*/ 26 h 67"/>
                <a:gd name="T48" fmla="*/ 0 w 67"/>
                <a:gd name="T49" fmla="*/ 35 h 67"/>
                <a:gd name="T50" fmla="*/ 0 w 67"/>
                <a:gd name="T51" fmla="*/ 40 h 67"/>
                <a:gd name="T52" fmla="*/ 0 w 67"/>
                <a:gd name="T53" fmla="*/ 44 h 67"/>
                <a:gd name="T54" fmla="*/ 4 w 67"/>
                <a:gd name="T55" fmla="*/ 49 h 67"/>
                <a:gd name="T56" fmla="*/ 9 w 67"/>
                <a:gd name="T57" fmla="*/ 57 h 67"/>
                <a:gd name="T58" fmla="*/ 13 w 67"/>
                <a:gd name="T59" fmla="*/ 62 h 67"/>
                <a:gd name="T60" fmla="*/ 22 w 67"/>
                <a:gd name="T61" fmla="*/ 62 h 67"/>
                <a:gd name="T62" fmla="*/ 26 w 67"/>
                <a:gd name="T63" fmla="*/ 66 h 67"/>
                <a:gd name="T64" fmla="*/ 35 w 67"/>
                <a:gd name="T65" fmla="*/ 66 h 67"/>
                <a:gd name="T66" fmla="*/ 35 w 67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4"/>
                  </a:lnTo>
                  <a:lnTo>
                    <a:pt x="66" y="40"/>
                  </a:lnTo>
                  <a:lnTo>
                    <a:pt x="66" y="35"/>
                  </a:lnTo>
                  <a:lnTo>
                    <a:pt x="66" y="26"/>
                  </a:lnTo>
                  <a:lnTo>
                    <a:pt x="66" y="22"/>
                  </a:lnTo>
                  <a:lnTo>
                    <a:pt x="62" y="13"/>
                  </a:lnTo>
                  <a:lnTo>
                    <a:pt x="57" y="9"/>
                  </a:lnTo>
                  <a:lnTo>
                    <a:pt x="53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1" y="0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3" y="4"/>
                  </a:lnTo>
                  <a:lnTo>
                    <a:pt x="9" y="9"/>
                  </a:lnTo>
                  <a:lnTo>
                    <a:pt x="4" y="13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DF4D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8" name="Freeform 220"/>
            <p:cNvSpPr>
              <a:spLocks noChangeArrowheads="1"/>
            </p:cNvSpPr>
            <p:nvPr/>
          </p:nvSpPr>
          <p:spPr bwMode="auto">
            <a:xfrm>
              <a:off x="3955" y="1944"/>
              <a:ext cx="16" cy="14"/>
            </a:xfrm>
            <a:custGeom>
              <a:avLst/>
              <a:gdLst>
                <a:gd name="T0" fmla="*/ 34 w 71"/>
                <a:gd name="T1" fmla="*/ 62 h 63"/>
                <a:gd name="T2" fmla="*/ 43 w 71"/>
                <a:gd name="T3" fmla="*/ 62 h 63"/>
                <a:gd name="T4" fmla="*/ 48 w 71"/>
                <a:gd name="T5" fmla="*/ 57 h 63"/>
                <a:gd name="T6" fmla="*/ 56 w 71"/>
                <a:gd name="T7" fmla="*/ 57 h 63"/>
                <a:gd name="T8" fmla="*/ 61 w 71"/>
                <a:gd name="T9" fmla="*/ 53 h 63"/>
                <a:gd name="T10" fmla="*/ 65 w 71"/>
                <a:gd name="T11" fmla="*/ 49 h 63"/>
                <a:gd name="T12" fmla="*/ 65 w 71"/>
                <a:gd name="T13" fmla="*/ 40 h 63"/>
                <a:gd name="T14" fmla="*/ 70 w 71"/>
                <a:gd name="T15" fmla="*/ 35 h 63"/>
                <a:gd name="T16" fmla="*/ 70 w 71"/>
                <a:gd name="T17" fmla="*/ 31 h 63"/>
                <a:gd name="T18" fmla="*/ 70 w 71"/>
                <a:gd name="T19" fmla="*/ 22 h 63"/>
                <a:gd name="T20" fmla="*/ 65 w 71"/>
                <a:gd name="T21" fmla="*/ 18 h 63"/>
                <a:gd name="T22" fmla="*/ 65 w 71"/>
                <a:gd name="T23" fmla="*/ 13 h 63"/>
                <a:gd name="T24" fmla="*/ 61 w 71"/>
                <a:gd name="T25" fmla="*/ 4 h 63"/>
                <a:gd name="T26" fmla="*/ 56 w 71"/>
                <a:gd name="T27" fmla="*/ 4 h 63"/>
                <a:gd name="T28" fmla="*/ 48 w 71"/>
                <a:gd name="T29" fmla="*/ 0 h 63"/>
                <a:gd name="T30" fmla="*/ 43 w 71"/>
                <a:gd name="T31" fmla="*/ 0 h 63"/>
                <a:gd name="T32" fmla="*/ 34 w 71"/>
                <a:gd name="T33" fmla="*/ 0 h 63"/>
                <a:gd name="T34" fmla="*/ 25 w 71"/>
                <a:gd name="T35" fmla="*/ 0 h 63"/>
                <a:gd name="T36" fmla="*/ 21 w 71"/>
                <a:gd name="T37" fmla="*/ 0 h 63"/>
                <a:gd name="T38" fmla="*/ 17 w 71"/>
                <a:gd name="T39" fmla="*/ 4 h 63"/>
                <a:gd name="T40" fmla="*/ 8 w 71"/>
                <a:gd name="T41" fmla="*/ 4 h 63"/>
                <a:gd name="T42" fmla="*/ 3 w 71"/>
                <a:gd name="T43" fmla="*/ 13 h 63"/>
                <a:gd name="T44" fmla="*/ 3 w 71"/>
                <a:gd name="T45" fmla="*/ 18 h 63"/>
                <a:gd name="T46" fmla="*/ 0 w 71"/>
                <a:gd name="T47" fmla="*/ 22 h 63"/>
                <a:gd name="T48" fmla="*/ 0 w 71"/>
                <a:gd name="T49" fmla="*/ 31 h 63"/>
                <a:gd name="T50" fmla="*/ 0 w 71"/>
                <a:gd name="T51" fmla="*/ 35 h 63"/>
                <a:gd name="T52" fmla="*/ 3 w 71"/>
                <a:gd name="T53" fmla="*/ 44 h 63"/>
                <a:gd name="T54" fmla="*/ 3 w 71"/>
                <a:gd name="T55" fmla="*/ 49 h 63"/>
                <a:gd name="T56" fmla="*/ 8 w 71"/>
                <a:gd name="T57" fmla="*/ 53 h 63"/>
                <a:gd name="T58" fmla="*/ 12 w 71"/>
                <a:gd name="T59" fmla="*/ 57 h 63"/>
                <a:gd name="T60" fmla="*/ 21 w 71"/>
                <a:gd name="T61" fmla="*/ 62 h 63"/>
                <a:gd name="T62" fmla="*/ 25 w 71"/>
                <a:gd name="T63" fmla="*/ 62 h 63"/>
                <a:gd name="T64" fmla="*/ 34 w 71"/>
                <a:gd name="T65" fmla="*/ 62 h 63"/>
                <a:gd name="T66" fmla="*/ 34 w 71"/>
                <a:gd name="T67" fmla="*/ 6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63">
                  <a:moveTo>
                    <a:pt x="34" y="62"/>
                  </a:moveTo>
                  <a:lnTo>
                    <a:pt x="43" y="62"/>
                  </a:lnTo>
                  <a:lnTo>
                    <a:pt x="48" y="57"/>
                  </a:lnTo>
                  <a:lnTo>
                    <a:pt x="56" y="57"/>
                  </a:lnTo>
                  <a:lnTo>
                    <a:pt x="61" y="53"/>
                  </a:lnTo>
                  <a:lnTo>
                    <a:pt x="65" y="49"/>
                  </a:lnTo>
                  <a:lnTo>
                    <a:pt x="65" y="40"/>
                  </a:lnTo>
                  <a:lnTo>
                    <a:pt x="70" y="35"/>
                  </a:lnTo>
                  <a:lnTo>
                    <a:pt x="70" y="31"/>
                  </a:lnTo>
                  <a:lnTo>
                    <a:pt x="70" y="22"/>
                  </a:lnTo>
                  <a:lnTo>
                    <a:pt x="65" y="18"/>
                  </a:lnTo>
                  <a:lnTo>
                    <a:pt x="65" y="13"/>
                  </a:lnTo>
                  <a:lnTo>
                    <a:pt x="61" y="4"/>
                  </a:lnTo>
                  <a:lnTo>
                    <a:pt x="56" y="4"/>
                  </a:lnTo>
                  <a:lnTo>
                    <a:pt x="48" y="0"/>
                  </a:lnTo>
                  <a:lnTo>
                    <a:pt x="43" y="0"/>
                  </a:lnTo>
                  <a:lnTo>
                    <a:pt x="34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7" y="4"/>
                  </a:lnTo>
                  <a:lnTo>
                    <a:pt x="8" y="4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0" y="22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3" y="44"/>
                  </a:lnTo>
                  <a:lnTo>
                    <a:pt x="3" y="49"/>
                  </a:lnTo>
                  <a:lnTo>
                    <a:pt x="8" y="53"/>
                  </a:lnTo>
                  <a:lnTo>
                    <a:pt x="12" y="57"/>
                  </a:lnTo>
                  <a:lnTo>
                    <a:pt x="21" y="62"/>
                  </a:lnTo>
                  <a:lnTo>
                    <a:pt x="25" y="62"/>
                  </a:lnTo>
                  <a:lnTo>
                    <a:pt x="34" y="62"/>
                  </a:lnTo>
                  <a:lnTo>
                    <a:pt x="34" y="62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49" name="Freeform 221"/>
            <p:cNvSpPr>
              <a:spLocks noChangeArrowheads="1"/>
            </p:cNvSpPr>
            <p:nvPr/>
          </p:nvSpPr>
          <p:spPr bwMode="auto">
            <a:xfrm>
              <a:off x="3956" y="1965"/>
              <a:ext cx="16" cy="15"/>
            </a:xfrm>
            <a:custGeom>
              <a:avLst/>
              <a:gdLst>
                <a:gd name="T0" fmla="*/ 35 w 72"/>
                <a:gd name="T1" fmla="*/ 66 h 67"/>
                <a:gd name="T2" fmla="*/ 44 w 72"/>
                <a:gd name="T3" fmla="*/ 66 h 67"/>
                <a:gd name="T4" fmla="*/ 49 w 72"/>
                <a:gd name="T5" fmla="*/ 62 h 67"/>
                <a:gd name="T6" fmla="*/ 53 w 72"/>
                <a:gd name="T7" fmla="*/ 62 h 67"/>
                <a:gd name="T8" fmla="*/ 62 w 72"/>
                <a:gd name="T9" fmla="*/ 57 h 67"/>
                <a:gd name="T10" fmla="*/ 62 w 72"/>
                <a:gd name="T11" fmla="*/ 49 h 67"/>
                <a:gd name="T12" fmla="*/ 66 w 72"/>
                <a:gd name="T13" fmla="*/ 49 h 67"/>
                <a:gd name="T14" fmla="*/ 71 w 72"/>
                <a:gd name="T15" fmla="*/ 40 h 67"/>
                <a:gd name="T16" fmla="*/ 71 w 72"/>
                <a:gd name="T17" fmla="*/ 35 h 67"/>
                <a:gd name="T18" fmla="*/ 71 w 72"/>
                <a:gd name="T19" fmla="*/ 26 h 67"/>
                <a:gd name="T20" fmla="*/ 66 w 72"/>
                <a:gd name="T21" fmla="*/ 22 h 67"/>
                <a:gd name="T22" fmla="*/ 66 w 72"/>
                <a:gd name="T23" fmla="*/ 13 h 67"/>
                <a:gd name="T24" fmla="*/ 62 w 72"/>
                <a:gd name="T25" fmla="*/ 13 h 67"/>
                <a:gd name="T26" fmla="*/ 53 w 72"/>
                <a:gd name="T27" fmla="*/ 9 h 67"/>
                <a:gd name="T28" fmla="*/ 49 w 72"/>
                <a:gd name="T29" fmla="*/ 4 h 67"/>
                <a:gd name="T30" fmla="*/ 44 w 72"/>
                <a:gd name="T31" fmla="*/ 0 h 67"/>
                <a:gd name="T32" fmla="*/ 35 w 72"/>
                <a:gd name="T33" fmla="*/ 0 h 67"/>
                <a:gd name="T34" fmla="*/ 31 w 72"/>
                <a:gd name="T35" fmla="*/ 4 h 67"/>
                <a:gd name="T36" fmla="*/ 22 w 72"/>
                <a:gd name="T37" fmla="*/ 4 h 67"/>
                <a:gd name="T38" fmla="*/ 18 w 72"/>
                <a:gd name="T39" fmla="*/ 9 h 67"/>
                <a:gd name="T40" fmla="*/ 9 w 72"/>
                <a:gd name="T41" fmla="*/ 13 h 67"/>
                <a:gd name="T42" fmla="*/ 4 w 72"/>
                <a:gd name="T43" fmla="*/ 13 h 67"/>
                <a:gd name="T44" fmla="*/ 4 w 72"/>
                <a:gd name="T45" fmla="*/ 22 h 67"/>
                <a:gd name="T46" fmla="*/ 0 w 72"/>
                <a:gd name="T47" fmla="*/ 26 h 67"/>
                <a:gd name="T48" fmla="*/ 0 w 72"/>
                <a:gd name="T49" fmla="*/ 35 h 67"/>
                <a:gd name="T50" fmla="*/ 0 w 72"/>
                <a:gd name="T51" fmla="*/ 40 h 67"/>
                <a:gd name="T52" fmla="*/ 0 w 72"/>
                <a:gd name="T53" fmla="*/ 49 h 67"/>
                <a:gd name="T54" fmla="*/ 4 w 72"/>
                <a:gd name="T55" fmla="*/ 49 h 67"/>
                <a:gd name="T56" fmla="*/ 9 w 72"/>
                <a:gd name="T57" fmla="*/ 57 h 67"/>
                <a:gd name="T58" fmla="*/ 13 w 72"/>
                <a:gd name="T59" fmla="*/ 62 h 67"/>
                <a:gd name="T60" fmla="*/ 22 w 72"/>
                <a:gd name="T61" fmla="*/ 62 h 67"/>
                <a:gd name="T62" fmla="*/ 26 w 72"/>
                <a:gd name="T63" fmla="*/ 66 h 67"/>
                <a:gd name="T64" fmla="*/ 35 w 72"/>
                <a:gd name="T65" fmla="*/ 66 h 67"/>
                <a:gd name="T66" fmla="*/ 35 w 72"/>
                <a:gd name="T67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2" h="67">
                  <a:moveTo>
                    <a:pt x="35" y="66"/>
                  </a:moveTo>
                  <a:lnTo>
                    <a:pt x="44" y="66"/>
                  </a:lnTo>
                  <a:lnTo>
                    <a:pt x="49" y="62"/>
                  </a:lnTo>
                  <a:lnTo>
                    <a:pt x="53" y="62"/>
                  </a:lnTo>
                  <a:lnTo>
                    <a:pt x="62" y="57"/>
                  </a:lnTo>
                  <a:lnTo>
                    <a:pt x="62" y="49"/>
                  </a:lnTo>
                  <a:lnTo>
                    <a:pt x="66" y="49"/>
                  </a:lnTo>
                  <a:lnTo>
                    <a:pt x="71" y="40"/>
                  </a:lnTo>
                  <a:lnTo>
                    <a:pt x="71" y="35"/>
                  </a:lnTo>
                  <a:lnTo>
                    <a:pt x="71" y="26"/>
                  </a:lnTo>
                  <a:lnTo>
                    <a:pt x="66" y="22"/>
                  </a:lnTo>
                  <a:lnTo>
                    <a:pt x="66" y="13"/>
                  </a:lnTo>
                  <a:lnTo>
                    <a:pt x="62" y="13"/>
                  </a:lnTo>
                  <a:lnTo>
                    <a:pt x="53" y="9"/>
                  </a:lnTo>
                  <a:lnTo>
                    <a:pt x="49" y="4"/>
                  </a:lnTo>
                  <a:lnTo>
                    <a:pt x="44" y="0"/>
                  </a:lnTo>
                  <a:lnTo>
                    <a:pt x="35" y="0"/>
                  </a:lnTo>
                  <a:lnTo>
                    <a:pt x="31" y="4"/>
                  </a:lnTo>
                  <a:lnTo>
                    <a:pt x="22" y="4"/>
                  </a:lnTo>
                  <a:lnTo>
                    <a:pt x="18" y="9"/>
                  </a:lnTo>
                  <a:lnTo>
                    <a:pt x="9" y="13"/>
                  </a:lnTo>
                  <a:lnTo>
                    <a:pt x="4" y="13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0" y="49"/>
                  </a:lnTo>
                  <a:lnTo>
                    <a:pt x="4" y="49"/>
                  </a:lnTo>
                  <a:lnTo>
                    <a:pt x="9" y="57"/>
                  </a:lnTo>
                  <a:lnTo>
                    <a:pt x="13" y="62"/>
                  </a:lnTo>
                  <a:lnTo>
                    <a:pt x="22" y="62"/>
                  </a:lnTo>
                  <a:lnTo>
                    <a:pt x="26" y="66"/>
                  </a:lnTo>
                  <a:lnTo>
                    <a:pt x="35" y="66"/>
                  </a:lnTo>
                  <a:lnTo>
                    <a:pt x="35" y="66"/>
                  </a:lnTo>
                </a:path>
              </a:pathLst>
            </a:custGeom>
            <a:solidFill>
              <a:srgbClr val="FFE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50" name="Freeform 222"/>
            <p:cNvSpPr>
              <a:spLocks noChangeArrowheads="1"/>
            </p:cNvSpPr>
            <p:nvPr/>
          </p:nvSpPr>
          <p:spPr bwMode="auto">
            <a:xfrm>
              <a:off x="3843" y="1663"/>
              <a:ext cx="84" cy="383"/>
            </a:xfrm>
            <a:custGeom>
              <a:avLst/>
              <a:gdLst>
                <a:gd name="T0" fmla="*/ 0 w 371"/>
                <a:gd name="T1" fmla="*/ 1685 h 1690"/>
                <a:gd name="T2" fmla="*/ 190 w 371"/>
                <a:gd name="T3" fmla="*/ 115 h 1690"/>
                <a:gd name="T4" fmla="*/ 370 w 371"/>
                <a:gd name="T5" fmla="*/ 0 h 1690"/>
                <a:gd name="T6" fmla="*/ 88 w 371"/>
                <a:gd name="T7" fmla="*/ 1689 h 1690"/>
                <a:gd name="T8" fmla="*/ 0 w 371"/>
                <a:gd name="T9" fmla="*/ 1685 h 1690"/>
                <a:gd name="T10" fmla="*/ 0 w 371"/>
                <a:gd name="T11" fmla="*/ 1685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1690">
                  <a:moveTo>
                    <a:pt x="0" y="1685"/>
                  </a:moveTo>
                  <a:lnTo>
                    <a:pt x="190" y="115"/>
                  </a:lnTo>
                  <a:lnTo>
                    <a:pt x="370" y="0"/>
                  </a:lnTo>
                  <a:lnTo>
                    <a:pt x="88" y="1689"/>
                  </a:lnTo>
                  <a:lnTo>
                    <a:pt x="0" y="1685"/>
                  </a:lnTo>
                  <a:lnTo>
                    <a:pt x="0" y="16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51" name="Freeform 223"/>
            <p:cNvSpPr>
              <a:spLocks noChangeArrowheads="1"/>
            </p:cNvSpPr>
            <p:nvPr/>
          </p:nvSpPr>
          <p:spPr bwMode="auto">
            <a:xfrm>
              <a:off x="3892" y="1674"/>
              <a:ext cx="62" cy="48"/>
            </a:xfrm>
            <a:custGeom>
              <a:avLst/>
              <a:gdLst>
                <a:gd name="T0" fmla="*/ 273 w 274"/>
                <a:gd name="T1" fmla="*/ 0 h 212"/>
                <a:gd name="T2" fmla="*/ 273 w 274"/>
                <a:gd name="T3" fmla="*/ 87 h 212"/>
                <a:gd name="T4" fmla="*/ 0 w 274"/>
                <a:gd name="T5" fmla="*/ 211 h 212"/>
                <a:gd name="T6" fmla="*/ 4 w 274"/>
                <a:gd name="T7" fmla="*/ 153 h 212"/>
                <a:gd name="T8" fmla="*/ 273 w 274"/>
                <a:gd name="T9" fmla="*/ 0 h 212"/>
                <a:gd name="T10" fmla="*/ 273 w 274"/>
                <a:gd name="T11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12">
                  <a:moveTo>
                    <a:pt x="273" y="0"/>
                  </a:moveTo>
                  <a:lnTo>
                    <a:pt x="273" y="87"/>
                  </a:lnTo>
                  <a:lnTo>
                    <a:pt x="0" y="211"/>
                  </a:lnTo>
                  <a:lnTo>
                    <a:pt x="4" y="153"/>
                  </a:lnTo>
                  <a:lnTo>
                    <a:pt x="273" y="0"/>
                  </a:lnTo>
                  <a:lnTo>
                    <a:pt x="273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  <p:sp>
          <p:nvSpPr>
            <p:cNvPr id="352" name="Line 224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53" name="Line 225"/>
            <p:cNvSpPr>
              <a:spLocks noChangeShapeType="1"/>
            </p:cNvSpPr>
            <p:nvPr/>
          </p:nvSpPr>
          <p:spPr bwMode="auto">
            <a:xfrm flipH="1">
              <a:off x="3877" y="1685"/>
              <a:ext cx="98" cy="41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54" name="Line 226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55" name="Line 227"/>
            <p:cNvSpPr>
              <a:spLocks noChangeShapeType="1"/>
            </p:cNvSpPr>
            <p:nvPr/>
          </p:nvSpPr>
          <p:spPr bwMode="auto">
            <a:xfrm flipH="1">
              <a:off x="3879" y="1738"/>
              <a:ext cx="99" cy="30"/>
            </a:xfrm>
            <a:prstGeom prst="line">
              <a:avLst/>
            </a:prstGeom>
            <a:noFill/>
            <a:ln w="14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356" name="Freeform 228"/>
            <p:cNvSpPr>
              <a:spLocks noChangeArrowheads="1"/>
            </p:cNvSpPr>
            <p:nvPr/>
          </p:nvSpPr>
          <p:spPr bwMode="auto">
            <a:xfrm>
              <a:off x="3892" y="1722"/>
              <a:ext cx="67" cy="42"/>
            </a:xfrm>
            <a:custGeom>
              <a:avLst/>
              <a:gdLst>
                <a:gd name="T0" fmla="*/ 291 w 296"/>
                <a:gd name="T1" fmla="*/ 0 h 186"/>
                <a:gd name="T2" fmla="*/ 295 w 296"/>
                <a:gd name="T3" fmla="*/ 93 h 186"/>
                <a:gd name="T4" fmla="*/ 0 w 296"/>
                <a:gd name="T5" fmla="*/ 185 h 186"/>
                <a:gd name="T6" fmla="*/ 0 w 296"/>
                <a:gd name="T7" fmla="*/ 119 h 186"/>
                <a:gd name="T8" fmla="*/ 291 w 296"/>
                <a:gd name="T9" fmla="*/ 0 h 186"/>
                <a:gd name="T10" fmla="*/ 291 w 296"/>
                <a:gd name="T11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86">
                  <a:moveTo>
                    <a:pt x="291" y="0"/>
                  </a:moveTo>
                  <a:lnTo>
                    <a:pt x="295" y="93"/>
                  </a:lnTo>
                  <a:lnTo>
                    <a:pt x="0" y="185"/>
                  </a:lnTo>
                  <a:lnTo>
                    <a:pt x="0" y="119"/>
                  </a:lnTo>
                  <a:lnTo>
                    <a:pt x="291" y="0"/>
                  </a:lnTo>
                  <a:lnTo>
                    <a:pt x="291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de-AT"/>
            </a:p>
          </p:txBody>
        </p:sp>
      </p:grpSp>
      <p:sp>
        <p:nvSpPr>
          <p:cNvPr id="174" name="Textfeld 173"/>
          <p:cNvSpPr txBox="1"/>
          <p:nvPr/>
        </p:nvSpPr>
        <p:spPr>
          <a:xfrm>
            <a:off x="1250951" y="2389594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 </a:t>
            </a:r>
            <a:r>
              <a:rPr lang="de-AT" sz="1200" dirty="0" err="1" smtClean="0"/>
              <a:t>GBaseT</a:t>
            </a:r>
            <a:endParaRPr lang="de-AT" sz="1200" dirty="0"/>
          </a:p>
        </p:txBody>
      </p:sp>
      <p:sp>
        <p:nvSpPr>
          <p:cNvPr id="175" name="Textfeld 174"/>
          <p:cNvSpPr txBox="1"/>
          <p:nvPr/>
        </p:nvSpPr>
        <p:spPr>
          <a:xfrm>
            <a:off x="4001943" y="4152026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 </a:t>
            </a:r>
            <a:r>
              <a:rPr lang="de-AT" sz="1200" dirty="0" err="1" smtClean="0"/>
              <a:t>GBaseT</a:t>
            </a:r>
            <a:endParaRPr lang="de-AT" sz="1200" dirty="0"/>
          </a:p>
        </p:txBody>
      </p:sp>
      <p:sp>
        <p:nvSpPr>
          <p:cNvPr id="176" name="Textfeld 175"/>
          <p:cNvSpPr txBox="1"/>
          <p:nvPr/>
        </p:nvSpPr>
        <p:spPr>
          <a:xfrm>
            <a:off x="7505699" y="2509064"/>
            <a:ext cx="1016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 </a:t>
            </a:r>
            <a:r>
              <a:rPr lang="de-AT" sz="1200" dirty="0" err="1" smtClean="0"/>
              <a:t>GBaseT</a:t>
            </a:r>
            <a:endParaRPr lang="de-AT" sz="1200" dirty="0"/>
          </a:p>
        </p:txBody>
      </p:sp>
      <p:sp>
        <p:nvSpPr>
          <p:cNvPr id="4" name="Textfeld 3"/>
          <p:cNvSpPr txBox="1"/>
          <p:nvPr/>
        </p:nvSpPr>
        <p:spPr>
          <a:xfrm>
            <a:off x="1773997" y="2190910"/>
            <a:ext cx="48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smtClean="0"/>
              <a:t>100</a:t>
            </a:r>
            <a:endParaRPr lang="de-AT" sz="1000" b="1" dirty="0"/>
          </a:p>
        </p:txBody>
      </p:sp>
      <p:sp>
        <p:nvSpPr>
          <p:cNvPr id="178" name="Textfeld 177"/>
          <p:cNvSpPr txBox="1"/>
          <p:nvPr/>
        </p:nvSpPr>
        <p:spPr>
          <a:xfrm>
            <a:off x="1747141" y="2739231"/>
            <a:ext cx="48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smtClean="0"/>
              <a:t>Edge</a:t>
            </a:r>
            <a:endParaRPr lang="de-AT" sz="1000" b="1" dirty="0"/>
          </a:p>
        </p:txBody>
      </p:sp>
      <p:sp>
        <p:nvSpPr>
          <p:cNvPr id="181" name="Textfeld 180"/>
          <p:cNvSpPr txBox="1"/>
          <p:nvPr/>
        </p:nvSpPr>
        <p:spPr>
          <a:xfrm>
            <a:off x="4508873" y="4477543"/>
            <a:ext cx="48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smtClean="0"/>
              <a:t>Edge</a:t>
            </a:r>
            <a:endParaRPr lang="de-AT" sz="1000" b="1" dirty="0"/>
          </a:p>
        </p:txBody>
      </p:sp>
      <p:sp>
        <p:nvSpPr>
          <p:cNvPr id="184" name="Textfeld 183"/>
          <p:cNvSpPr txBox="1"/>
          <p:nvPr/>
        </p:nvSpPr>
        <p:spPr>
          <a:xfrm>
            <a:off x="7176963" y="2922112"/>
            <a:ext cx="48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 smtClean="0"/>
              <a:t>Edge</a:t>
            </a:r>
            <a:endParaRPr lang="de-AT" sz="1000" b="1" dirty="0"/>
          </a:p>
        </p:txBody>
      </p:sp>
      <p:sp>
        <p:nvSpPr>
          <p:cNvPr id="177" name="Textfeld 176"/>
          <p:cNvSpPr txBox="1"/>
          <p:nvPr/>
        </p:nvSpPr>
        <p:spPr>
          <a:xfrm>
            <a:off x="6906412" y="536198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204.13.55.67/24</a:t>
            </a:r>
            <a:endParaRPr lang="de-AT" sz="1200" dirty="0"/>
          </a:p>
        </p:txBody>
      </p:sp>
      <p:sp>
        <p:nvSpPr>
          <p:cNvPr id="189" name="Textfeld 188"/>
          <p:cNvSpPr txBox="1"/>
          <p:nvPr/>
        </p:nvSpPr>
        <p:spPr>
          <a:xfrm>
            <a:off x="1989269" y="441244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199.3.156.12/24</a:t>
            </a:r>
            <a:endParaRPr lang="de-AT" sz="1200" dirty="0"/>
          </a:p>
        </p:txBody>
      </p:sp>
      <p:sp>
        <p:nvSpPr>
          <p:cNvPr id="198" name="Textfeld 197"/>
          <p:cNvSpPr txBox="1"/>
          <p:nvPr/>
        </p:nvSpPr>
        <p:spPr>
          <a:xfrm>
            <a:off x="3773967" y="1706859"/>
            <a:ext cx="189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200" dirty="0" smtClean="0"/>
              <a:t>Transfernetze im Bereich 172.17.2.64/26</a:t>
            </a:r>
            <a:endParaRPr lang="de-AT" sz="1200" dirty="0"/>
          </a:p>
        </p:txBody>
      </p:sp>
      <p:sp>
        <p:nvSpPr>
          <p:cNvPr id="199" name="Textfeld 198"/>
          <p:cNvSpPr txBox="1"/>
          <p:nvPr/>
        </p:nvSpPr>
        <p:spPr>
          <a:xfrm>
            <a:off x="579550" y="3757842"/>
            <a:ext cx="189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200" dirty="0" smtClean="0"/>
              <a:t>Firmennetze im Bereich 10.10.0.0/16</a:t>
            </a:r>
            <a:endParaRPr lang="de-AT" sz="1200" dirty="0"/>
          </a:p>
        </p:txBody>
      </p:sp>
      <p:sp>
        <p:nvSpPr>
          <p:cNvPr id="200" name="Textfeld 199"/>
          <p:cNvSpPr txBox="1"/>
          <p:nvPr/>
        </p:nvSpPr>
        <p:spPr>
          <a:xfrm>
            <a:off x="3292345" y="5538489"/>
            <a:ext cx="189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200" dirty="0" smtClean="0"/>
              <a:t>Firmennetze im Bereich 10.10.0.0/16</a:t>
            </a:r>
            <a:endParaRPr lang="de-AT" sz="1200" dirty="0"/>
          </a:p>
        </p:txBody>
      </p:sp>
      <p:sp>
        <p:nvSpPr>
          <p:cNvPr id="201" name="Textfeld 200"/>
          <p:cNvSpPr txBox="1"/>
          <p:nvPr/>
        </p:nvSpPr>
        <p:spPr>
          <a:xfrm>
            <a:off x="6855358" y="3736476"/>
            <a:ext cx="1896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200" dirty="0" smtClean="0"/>
              <a:t>Firmennetze im Bereich 10.10.0.0/16</a:t>
            </a:r>
            <a:endParaRPr lang="de-AT" sz="1200" dirty="0"/>
          </a:p>
        </p:txBody>
      </p:sp>
      <p:sp>
        <p:nvSpPr>
          <p:cNvPr id="203" name="Text Box 3"/>
          <p:cNvSpPr txBox="1">
            <a:spLocks noChangeArrowheads="1"/>
          </p:cNvSpPr>
          <p:nvPr/>
        </p:nvSpPr>
        <p:spPr bwMode="auto">
          <a:xfrm>
            <a:off x="1056067" y="1624841"/>
            <a:ext cx="14358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2911</a:t>
            </a:r>
            <a:endParaRPr lang="de-DE" altLang="de-DE" sz="1200" b="1" dirty="0"/>
          </a:p>
        </p:txBody>
      </p:sp>
      <p:sp>
        <p:nvSpPr>
          <p:cNvPr id="205" name="Text Box 3"/>
          <p:cNvSpPr txBox="1">
            <a:spLocks noChangeArrowheads="1"/>
          </p:cNvSpPr>
          <p:nvPr/>
        </p:nvSpPr>
        <p:spPr bwMode="auto">
          <a:xfrm>
            <a:off x="1322421" y="2962682"/>
            <a:ext cx="18716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</a:t>
            </a:r>
            <a:r>
              <a:rPr lang="de-DE" altLang="de-DE" sz="1200" b="1" dirty="0" err="1" smtClean="0"/>
              <a:t>Catalyst</a:t>
            </a:r>
            <a:r>
              <a:rPr lang="de-DE" altLang="de-DE" sz="1200" b="1" dirty="0" smtClean="0"/>
              <a:t> 2960</a:t>
            </a:r>
            <a:endParaRPr lang="de-DE" altLang="de-DE" sz="1200" b="1" dirty="0"/>
          </a:p>
        </p:txBody>
      </p:sp>
      <p:sp>
        <p:nvSpPr>
          <p:cNvPr id="206" name="Text Box 3"/>
          <p:cNvSpPr txBox="1">
            <a:spLocks noChangeArrowheads="1"/>
          </p:cNvSpPr>
          <p:nvPr/>
        </p:nvSpPr>
        <p:spPr bwMode="auto">
          <a:xfrm>
            <a:off x="3932121" y="4741217"/>
            <a:ext cx="18716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</a:t>
            </a:r>
            <a:r>
              <a:rPr lang="de-DE" altLang="de-DE" sz="1200" b="1" dirty="0" err="1" smtClean="0"/>
              <a:t>Catalyst</a:t>
            </a:r>
            <a:r>
              <a:rPr lang="de-DE" altLang="de-DE" sz="1200" b="1" dirty="0" smtClean="0"/>
              <a:t> 2960</a:t>
            </a:r>
            <a:endParaRPr lang="de-DE" altLang="de-DE" sz="1200" b="1" dirty="0"/>
          </a:p>
        </p:txBody>
      </p:sp>
      <p:sp>
        <p:nvSpPr>
          <p:cNvPr id="207" name="Text Box 3"/>
          <p:cNvSpPr txBox="1">
            <a:spLocks noChangeArrowheads="1"/>
          </p:cNvSpPr>
          <p:nvPr/>
        </p:nvSpPr>
        <p:spPr bwMode="auto">
          <a:xfrm>
            <a:off x="6801438" y="3168333"/>
            <a:ext cx="18716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</a:t>
            </a:r>
            <a:r>
              <a:rPr lang="de-DE" altLang="de-DE" sz="1200" b="1" dirty="0" err="1" smtClean="0"/>
              <a:t>Catalyst</a:t>
            </a:r>
            <a:r>
              <a:rPr lang="de-DE" altLang="de-DE" sz="1200" b="1" dirty="0" smtClean="0"/>
              <a:t> 2960</a:t>
            </a:r>
            <a:endParaRPr lang="de-DE" altLang="de-DE" sz="1200" b="1" dirty="0"/>
          </a:p>
        </p:txBody>
      </p:sp>
      <p:sp>
        <p:nvSpPr>
          <p:cNvPr id="208" name="Text Box 3"/>
          <p:cNvSpPr txBox="1">
            <a:spLocks noChangeArrowheads="1"/>
          </p:cNvSpPr>
          <p:nvPr/>
        </p:nvSpPr>
        <p:spPr bwMode="auto">
          <a:xfrm>
            <a:off x="7976610" y="1968021"/>
            <a:ext cx="9713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dirty="0" err="1" smtClean="0"/>
              <a:t>FileServer</a:t>
            </a:r>
            <a:r>
              <a:rPr lang="de-DE" altLang="de-DE" sz="1200" dirty="0" smtClean="0"/>
              <a:t/>
            </a:r>
            <a:br>
              <a:rPr lang="de-DE" altLang="de-DE" sz="1200" dirty="0" smtClean="0"/>
            </a:br>
            <a:r>
              <a:rPr lang="de-DE" altLang="de-DE" sz="1200" dirty="0" smtClean="0"/>
              <a:t>(Private IP)</a:t>
            </a:r>
            <a:endParaRPr lang="de-DE" altLang="de-DE" sz="1200" dirty="0"/>
          </a:p>
        </p:txBody>
      </p:sp>
      <p:sp>
        <p:nvSpPr>
          <p:cNvPr id="209" name="Text Box 3"/>
          <p:cNvSpPr txBox="1">
            <a:spLocks noChangeArrowheads="1"/>
          </p:cNvSpPr>
          <p:nvPr/>
        </p:nvSpPr>
        <p:spPr bwMode="auto">
          <a:xfrm>
            <a:off x="3148746" y="4691856"/>
            <a:ext cx="9713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dirty="0" err="1" smtClean="0"/>
              <a:t>FileServer</a:t>
            </a:r>
            <a:r>
              <a:rPr lang="de-DE" altLang="de-DE" sz="1200" dirty="0" smtClean="0"/>
              <a:t/>
            </a:r>
            <a:br>
              <a:rPr lang="de-DE" altLang="de-DE" sz="1200" dirty="0" smtClean="0"/>
            </a:br>
            <a:r>
              <a:rPr lang="de-DE" altLang="de-DE" sz="1200" dirty="0" smtClean="0"/>
              <a:t>(Private IP)</a:t>
            </a:r>
            <a:endParaRPr lang="de-DE" altLang="de-DE" sz="1200" dirty="0"/>
          </a:p>
        </p:txBody>
      </p:sp>
      <p:sp>
        <p:nvSpPr>
          <p:cNvPr id="210" name="Text Box 3"/>
          <p:cNvSpPr txBox="1">
            <a:spLocks noChangeArrowheads="1"/>
          </p:cNvSpPr>
          <p:nvPr/>
        </p:nvSpPr>
        <p:spPr bwMode="auto">
          <a:xfrm>
            <a:off x="457286" y="3000839"/>
            <a:ext cx="9713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dirty="0" err="1" smtClean="0"/>
              <a:t>WebServer</a:t>
            </a:r>
            <a:r>
              <a:rPr lang="de-DE" altLang="de-DE" sz="1200" dirty="0" smtClean="0"/>
              <a:t/>
            </a:r>
            <a:br>
              <a:rPr lang="de-DE" altLang="de-DE" sz="1200" dirty="0" smtClean="0"/>
            </a:br>
            <a:r>
              <a:rPr lang="de-DE" altLang="de-DE" sz="1200" dirty="0" smtClean="0"/>
              <a:t>(Public IP)</a:t>
            </a:r>
            <a:endParaRPr lang="de-DE" altLang="de-DE" sz="1200" dirty="0"/>
          </a:p>
        </p:txBody>
      </p:sp>
      <p:sp>
        <p:nvSpPr>
          <p:cNvPr id="119" name="Text Box 3"/>
          <p:cNvSpPr txBox="1">
            <a:spLocks noChangeArrowheads="1"/>
          </p:cNvSpPr>
          <p:nvPr/>
        </p:nvSpPr>
        <p:spPr bwMode="auto">
          <a:xfrm>
            <a:off x="2852198" y="1158837"/>
            <a:ext cx="18716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1841</a:t>
            </a:r>
            <a:endParaRPr lang="de-DE" altLang="de-DE" sz="1200" b="1" dirty="0"/>
          </a:p>
        </p:txBody>
      </p:sp>
      <p:sp>
        <p:nvSpPr>
          <p:cNvPr id="120" name="Text Box 3"/>
          <p:cNvSpPr txBox="1">
            <a:spLocks noChangeArrowheads="1"/>
          </p:cNvSpPr>
          <p:nvPr/>
        </p:nvSpPr>
        <p:spPr bwMode="auto">
          <a:xfrm>
            <a:off x="5518037" y="1128104"/>
            <a:ext cx="118755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de-DE" altLang="de-DE" sz="1200" b="1" dirty="0" smtClean="0"/>
              <a:t>Cisco 1841</a:t>
            </a:r>
            <a:endParaRPr lang="de-DE" altLang="de-DE" sz="1200" b="1" dirty="0"/>
          </a:p>
        </p:txBody>
      </p:sp>
      <p:sp>
        <p:nvSpPr>
          <p:cNvPr id="121" name="Line 14"/>
          <p:cNvSpPr>
            <a:spLocks noChangeShapeType="1"/>
          </p:cNvSpPr>
          <p:nvPr/>
        </p:nvSpPr>
        <p:spPr bwMode="auto">
          <a:xfrm flipH="1">
            <a:off x="2058022" y="978353"/>
            <a:ext cx="906730" cy="107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22" name="Line 14"/>
          <p:cNvSpPr>
            <a:spLocks noChangeShapeType="1"/>
          </p:cNvSpPr>
          <p:nvPr/>
        </p:nvSpPr>
        <p:spPr bwMode="auto">
          <a:xfrm>
            <a:off x="6814570" y="1042108"/>
            <a:ext cx="644751" cy="11005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AT"/>
          </a:p>
        </p:txBody>
      </p:sp>
      <p:pic>
        <p:nvPicPr>
          <p:cNvPr id="377" name="Picture 1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75" y="811000"/>
            <a:ext cx="633412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266" name="Picture 1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818" y="755650"/>
            <a:ext cx="633412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118" name="Picture 1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447" y="1989560"/>
            <a:ext cx="633412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123" name="Picture 1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373" y="3731419"/>
            <a:ext cx="633412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pic>
        <p:nvPicPr>
          <p:cNvPr id="124" name="Picture 17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159" y="2055019"/>
            <a:ext cx="633412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</a:extLst>
        </p:spPr>
      </p:pic>
      <p:sp>
        <p:nvSpPr>
          <p:cNvPr id="125" name="Text Box 3"/>
          <p:cNvSpPr txBox="1">
            <a:spLocks noChangeArrowheads="1"/>
          </p:cNvSpPr>
          <p:nvPr/>
        </p:nvSpPr>
        <p:spPr bwMode="auto">
          <a:xfrm>
            <a:off x="4265232" y="3384820"/>
            <a:ext cx="14358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2911</a:t>
            </a:r>
            <a:endParaRPr lang="de-DE" altLang="de-DE" sz="1200" b="1" dirty="0"/>
          </a:p>
        </p:txBody>
      </p:sp>
      <p:sp>
        <p:nvSpPr>
          <p:cNvPr id="126" name="Text Box 3"/>
          <p:cNvSpPr txBox="1">
            <a:spLocks noChangeArrowheads="1"/>
          </p:cNvSpPr>
          <p:nvPr/>
        </p:nvSpPr>
        <p:spPr bwMode="auto">
          <a:xfrm>
            <a:off x="7312496" y="1763340"/>
            <a:ext cx="14358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altLang="de-DE" sz="1200" b="1" dirty="0" smtClean="0"/>
              <a:t>Cisco 2911</a:t>
            </a:r>
            <a:endParaRPr lang="de-DE" altLang="de-DE" sz="1200" b="1" dirty="0"/>
          </a:p>
        </p:txBody>
      </p:sp>
      <p:sp>
        <p:nvSpPr>
          <p:cNvPr id="127" name="Textfeld 126"/>
          <p:cNvSpPr txBox="1"/>
          <p:nvPr/>
        </p:nvSpPr>
        <p:spPr>
          <a:xfrm>
            <a:off x="1865473" y="1195294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100BaseT</a:t>
            </a:r>
            <a:endParaRPr lang="de-AT" sz="1200" dirty="0"/>
          </a:p>
        </p:txBody>
      </p:sp>
      <p:sp>
        <p:nvSpPr>
          <p:cNvPr id="128" name="Textfeld 127"/>
          <p:cNvSpPr txBox="1"/>
          <p:nvPr/>
        </p:nvSpPr>
        <p:spPr>
          <a:xfrm>
            <a:off x="6996327" y="1168510"/>
            <a:ext cx="135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 smtClean="0"/>
              <a:t>100BaseT</a:t>
            </a: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49763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Vergabe der IP-Adressen und Routing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953" y="1259557"/>
            <a:ext cx="9066360" cy="5711754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de-DE" altLang="de-DE" sz="2094" dirty="0"/>
              <a:t>Es steht das Netz </a:t>
            </a:r>
            <a:r>
              <a:rPr lang="de-DE" altLang="de-DE" sz="2094" dirty="0" smtClean="0"/>
              <a:t>10.10.0.0 </a:t>
            </a:r>
            <a:r>
              <a:rPr lang="de-DE" altLang="de-DE" sz="2094" dirty="0" smtClean="0"/>
              <a:t>255.255.0.0 für die Adressierung der lokalen Netzwerke zur Verfügung. </a:t>
            </a:r>
          </a:p>
          <a:p>
            <a:pPr>
              <a:lnSpc>
                <a:spcPct val="75000"/>
              </a:lnSpc>
            </a:pPr>
            <a:r>
              <a:rPr lang="de-DE" altLang="de-DE" sz="2094" dirty="0" smtClean="0"/>
              <a:t>Unterteile </a:t>
            </a:r>
            <a:r>
              <a:rPr lang="de-DE" altLang="de-DE" sz="2094" dirty="0"/>
              <a:t>das Netz so, dass </a:t>
            </a:r>
            <a:r>
              <a:rPr lang="de-DE" altLang="de-DE" sz="2094" dirty="0" smtClean="0"/>
              <a:t>für jedes Gebäude ausreichend Adressen vorhanden sind. Verwende dazu VLSM.</a:t>
            </a:r>
          </a:p>
          <a:p>
            <a:pPr>
              <a:lnSpc>
                <a:spcPct val="75000"/>
              </a:lnSpc>
            </a:pPr>
            <a:r>
              <a:rPr lang="de-DE" altLang="de-DE" sz="2094" dirty="0" smtClean="0"/>
              <a:t>Die Transfernetze sind so sparsam wie möglich auszulegen.</a:t>
            </a:r>
            <a:endParaRPr lang="de-DE" altLang="de-DE" sz="2094" dirty="0"/>
          </a:p>
          <a:p>
            <a:pPr>
              <a:lnSpc>
                <a:spcPct val="75000"/>
              </a:lnSpc>
            </a:pPr>
            <a:r>
              <a:rPr lang="de-DE" altLang="de-DE" sz="2094" dirty="0" smtClean="0"/>
              <a:t>Die Router sollen über RIPv2 die beste Route selbständig berechnen. </a:t>
            </a:r>
            <a:endParaRPr lang="de-DE" altLang="de-DE" sz="2094" dirty="0"/>
          </a:p>
          <a:p>
            <a:pPr>
              <a:lnSpc>
                <a:spcPct val="75000"/>
              </a:lnSpc>
            </a:pPr>
            <a:r>
              <a:rPr lang="de-DE" altLang="de-DE" sz="2094" dirty="0"/>
              <a:t>Die einzelnen LANs der Router </a:t>
            </a:r>
            <a:r>
              <a:rPr lang="de-DE" altLang="de-DE" sz="2094" dirty="0" smtClean="0"/>
              <a:t>(Haus A </a:t>
            </a:r>
            <a:r>
              <a:rPr lang="de-DE" altLang="de-DE" sz="2094" dirty="0"/>
              <a:t>bis </a:t>
            </a:r>
            <a:r>
              <a:rPr lang="de-DE" altLang="de-DE" sz="2094" dirty="0" smtClean="0"/>
              <a:t>C) </a:t>
            </a:r>
            <a:r>
              <a:rPr lang="de-DE" altLang="de-DE" sz="2094" dirty="0"/>
              <a:t>sind mit NAT </a:t>
            </a:r>
            <a:r>
              <a:rPr lang="de-DE" altLang="de-DE" sz="2094" dirty="0" smtClean="0"/>
              <a:t>anzubinden</a:t>
            </a:r>
            <a:r>
              <a:rPr lang="de-DE" altLang="de-DE" sz="2094" dirty="0"/>
              <a:t>.</a:t>
            </a:r>
          </a:p>
          <a:p>
            <a:pPr>
              <a:lnSpc>
                <a:spcPct val="75000"/>
              </a:lnSpc>
            </a:pPr>
            <a:r>
              <a:rPr lang="de-DE" altLang="de-DE" sz="2094" dirty="0"/>
              <a:t>In jedem LAN ist ein </a:t>
            </a:r>
            <a:r>
              <a:rPr lang="de-DE" altLang="de-DE" sz="2094" dirty="0" smtClean="0"/>
              <a:t>Server </a:t>
            </a:r>
            <a:r>
              <a:rPr lang="de-DE" altLang="de-DE" sz="2094" dirty="0"/>
              <a:t>zu konfigurieren (Linux oder Windows), dieser benötigt eine fixe IP </a:t>
            </a:r>
            <a:r>
              <a:rPr lang="de-DE" altLang="de-DE" sz="2094" dirty="0" smtClean="0"/>
              <a:t>(privat oder öffentlich). Über NAT Einträge sollen die Server auch aus den anderen Netzen erreichbar sein.</a:t>
            </a:r>
          </a:p>
          <a:p>
            <a:pPr>
              <a:lnSpc>
                <a:spcPct val="75000"/>
              </a:lnSpc>
            </a:pPr>
            <a:r>
              <a:rPr lang="de-DE" altLang="de-DE" sz="2094" dirty="0" smtClean="0"/>
              <a:t>Teste </a:t>
            </a:r>
            <a:r>
              <a:rPr lang="de-DE" altLang="de-DE" sz="2094" dirty="0"/>
              <a:t>die Konfiguration (ping und Webzugriff von allen Netzen)</a:t>
            </a:r>
          </a:p>
          <a:p>
            <a:pPr>
              <a:lnSpc>
                <a:spcPct val="75000"/>
              </a:lnSpc>
            </a:pPr>
            <a:r>
              <a:rPr lang="de-DE" altLang="de-DE" sz="2094" dirty="0"/>
              <a:t>speichere die Konfiguration</a:t>
            </a:r>
          </a:p>
          <a:p>
            <a:pPr>
              <a:lnSpc>
                <a:spcPct val="75000"/>
              </a:lnSpc>
            </a:pPr>
            <a:r>
              <a:rPr lang="de-DE" altLang="de-DE" sz="2094" dirty="0"/>
              <a:t>dokumentiere die Konfiguration und Testergebnisse</a:t>
            </a:r>
          </a:p>
        </p:txBody>
      </p:sp>
    </p:spTree>
    <p:extLst>
      <p:ext uri="{BB962C8B-B14F-4D97-AF65-F5344CB8AC3E}">
        <p14:creationId xmlns:p14="http://schemas.microsoft.com/office/powerpoint/2010/main" val="64962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ACLs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</a:pPr>
            <a:r>
              <a:rPr lang="de-DE" altLang="de-DE" sz="2000" dirty="0"/>
              <a:t>Erstelle an den Routern entsprechende ACLs:</a:t>
            </a:r>
          </a:p>
          <a:p>
            <a:pPr lvl="1">
              <a:lnSpc>
                <a:spcPct val="75000"/>
              </a:lnSpc>
            </a:pPr>
            <a:r>
              <a:rPr lang="de-DE" altLang="de-DE" sz="1800" dirty="0"/>
              <a:t>Webserver A soll vom Internet und </a:t>
            </a:r>
            <a:r>
              <a:rPr lang="de-DE" altLang="de-DE" sz="1800" dirty="0" smtClean="0"/>
              <a:t>aus allen lokalen Netzen erreichbar </a:t>
            </a:r>
            <a:r>
              <a:rPr lang="de-DE" altLang="de-DE" sz="1800" dirty="0"/>
              <a:t>sein</a:t>
            </a:r>
          </a:p>
          <a:p>
            <a:pPr lvl="1">
              <a:lnSpc>
                <a:spcPct val="75000"/>
              </a:lnSpc>
            </a:pPr>
            <a:r>
              <a:rPr lang="de-DE" altLang="de-DE" sz="1800" dirty="0" smtClean="0"/>
              <a:t>Fileserver </a:t>
            </a:r>
            <a:r>
              <a:rPr lang="de-DE" altLang="de-DE" sz="1800" dirty="0"/>
              <a:t>B soll von den LANs A bis </a:t>
            </a:r>
            <a:r>
              <a:rPr lang="de-DE" altLang="de-DE" sz="1800" dirty="0" smtClean="0"/>
              <a:t>C, </a:t>
            </a:r>
            <a:r>
              <a:rPr lang="de-DE" altLang="de-DE" sz="1800" dirty="0"/>
              <a:t>aber nicht vom Internet erreichbar sein</a:t>
            </a:r>
          </a:p>
          <a:p>
            <a:pPr lvl="1">
              <a:lnSpc>
                <a:spcPct val="75000"/>
              </a:lnSpc>
            </a:pPr>
            <a:r>
              <a:rPr lang="de-DE" altLang="de-DE" sz="1800" dirty="0" smtClean="0"/>
              <a:t>Fileserver </a:t>
            </a:r>
            <a:r>
              <a:rPr lang="de-DE" altLang="de-DE" sz="1800" dirty="0"/>
              <a:t>C soll nur von LAN A und </a:t>
            </a:r>
            <a:r>
              <a:rPr lang="de-DE" altLang="de-DE" sz="1800" dirty="0" smtClean="0"/>
              <a:t>C </a:t>
            </a:r>
            <a:r>
              <a:rPr lang="de-DE" altLang="de-DE" sz="1800" dirty="0"/>
              <a:t>erreichbar sein.</a:t>
            </a:r>
          </a:p>
          <a:p>
            <a:pPr lvl="1">
              <a:lnSpc>
                <a:spcPct val="75000"/>
              </a:lnSpc>
            </a:pPr>
            <a:r>
              <a:rPr lang="de-DE" altLang="de-DE" sz="1800" dirty="0" smtClean="0"/>
              <a:t>Konfiguriere </a:t>
            </a:r>
            <a:r>
              <a:rPr lang="de-DE" altLang="de-DE" sz="1800" dirty="0"/>
              <a:t>alle ACLs so, dass keine weiteren Dienste möglich sind!!</a:t>
            </a:r>
          </a:p>
          <a:p>
            <a:pPr>
              <a:lnSpc>
                <a:spcPct val="75000"/>
              </a:lnSpc>
            </a:pPr>
            <a:r>
              <a:rPr lang="de-DE" altLang="de-DE" sz="2000" dirty="0" smtClean="0"/>
              <a:t>Teste </a:t>
            </a:r>
            <a:r>
              <a:rPr lang="de-DE" altLang="de-DE" sz="2000" dirty="0"/>
              <a:t>die Einstellungen</a:t>
            </a:r>
          </a:p>
          <a:p>
            <a:pPr>
              <a:lnSpc>
                <a:spcPct val="75000"/>
              </a:lnSpc>
            </a:pPr>
            <a:r>
              <a:rPr lang="de-DE" altLang="de-DE" sz="2000" dirty="0"/>
              <a:t>Speichere die Konfiguration</a:t>
            </a:r>
          </a:p>
          <a:p>
            <a:pPr>
              <a:lnSpc>
                <a:spcPct val="75000"/>
              </a:lnSpc>
            </a:pPr>
            <a:r>
              <a:rPr lang="de-DE" altLang="de-DE" sz="2000" dirty="0"/>
              <a:t>dokumentiere die Einstellungen und Testergebnisse</a:t>
            </a:r>
          </a:p>
          <a:p>
            <a:pPr>
              <a:lnSpc>
                <a:spcPct val="75000"/>
              </a:lnSpc>
            </a:pPr>
            <a:endParaRPr lang="de-DE" altLang="de-DE" sz="2000" dirty="0"/>
          </a:p>
          <a:p>
            <a:pPr>
              <a:lnSpc>
                <a:spcPct val="75000"/>
              </a:lnSpc>
            </a:pPr>
            <a:endParaRPr lang="de-DE" altLang="de-DE" sz="2000" dirty="0"/>
          </a:p>
        </p:txBody>
      </p:sp>
    </p:spTree>
    <p:extLst>
      <p:ext uri="{BB962C8B-B14F-4D97-AF65-F5344CB8AC3E}">
        <p14:creationId xmlns:p14="http://schemas.microsoft.com/office/powerpoint/2010/main" val="336592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Hinweise zur Dokumentation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r>
              <a:rPr lang="de-DE" altLang="de-DE" sz="2315" dirty="0"/>
              <a:t>Erstelle entsprechende Befehlslisten, mit denen die Router konfiguriert werden. Unterteile diese in Grund, Interface, Routing und ACL Konfiguration.</a:t>
            </a:r>
          </a:p>
          <a:p>
            <a:pPr>
              <a:lnSpc>
                <a:spcPct val="85000"/>
              </a:lnSpc>
            </a:pPr>
            <a:r>
              <a:rPr lang="de-DE" altLang="de-DE" sz="2315" dirty="0"/>
              <a:t>Erstelle Textdateien aus den entsprechenden </a:t>
            </a:r>
            <a:r>
              <a:rPr lang="de-DE" altLang="de-DE" sz="2315" dirty="0" err="1"/>
              <a:t>show</a:t>
            </a:r>
            <a:r>
              <a:rPr lang="de-DE" altLang="de-DE" sz="2315" dirty="0"/>
              <a:t> Befehlen</a:t>
            </a:r>
          </a:p>
          <a:p>
            <a:pPr>
              <a:lnSpc>
                <a:spcPct val="85000"/>
              </a:lnSpc>
            </a:pPr>
            <a:r>
              <a:rPr lang="de-DE" altLang="de-DE" sz="2315" dirty="0"/>
              <a:t>Erstelle Textdateien aus den Bildschirmausgaben der Testbefehle</a:t>
            </a:r>
          </a:p>
          <a:p>
            <a:pPr>
              <a:lnSpc>
                <a:spcPct val="85000"/>
              </a:lnSpc>
            </a:pPr>
            <a:r>
              <a:rPr lang="de-DE" altLang="de-DE" sz="2315" dirty="0"/>
              <a:t>Führe eine möglichst lückenlose Dokumentation bzw. Test durch!!</a:t>
            </a:r>
          </a:p>
          <a:p>
            <a:pPr>
              <a:lnSpc>
                <a:spcPct val="85000"/>
              </a:lnSpc>
            </a:pPr>
            <a:r>
              <a:rPr lang="de-DE" altLang="de-DE" sz="2315" dirty="0"/>
              <a:t>Erkläre in kurzen Sätzen die Konfigurationen.</a:t>
            </a:r>
          </a:p>
        </p:txBody>
      </p:sp>
    </p:spTree>
    <p:extLst>
      <p:ext uri="{BB962C8B-B14F-4D97-AF65-F5344CB8AC3E}">
        <p14:creationId xmlns:p14="http://schemas.microsoft.com/office/powerpoint/2010/main" val="16412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Benutzerdefiniert</PresentationFormat>
  <Paragraphs>65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Courier New</vt:lpstr>
      <vt:lpstr>StarBats</vt:lpstr>
      <vt:lpstr>Symbol</vt:lpstr>
      <vt:lpstr>Times New Roman</vt:lpstr>
      <vt:lpstr>Wingdings</vt:lpstr>
      <vt:lpstr>Standarddesign</vt:lpstr>
      <vt:lpstr>Netzwerktechnisches Abschlussprojekt</vt:lpstr>
      <vt:lpstr>PowerPoint-Präsentation</vt:lpstr>
      <vt:lpstr>Vergabe der IP-Adressen und Routing</vt:lpstr>
      <vt:lpstr>ACLs</vt:lpstr>
      <vt:lpstr>Hinweise zur Dokumentation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Robin</dc:creator>
  <cp:lastModifiedBy>Robin Laage</cp:lastModifiedBy>
  <cp:revision>61</cp:revision>
  <cp:lastPrinted>2016-02-24T09:18:23Z</cp:lastPrinted>
  <dcterms:created xsi:type="dcterms:W3CDTF">2003-12-05T08:48:03Z</dcterms:created>
  <dcterms:modified xsi:type="dcterms:W3CDTF">2018-10-23T07:01:14Z</dcterms:modified>
</cp:coreProperties>
</file>